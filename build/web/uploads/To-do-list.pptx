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5" r:id="rId3"/>
    <p:sldId id="273" r:id="rId4"/>
    <p:sldId id="260" r:id="rId5"/>
    <p:sldId id="274" r:id="rId6"/>
    <p:sldId id="272" r:id="rId7"/>
    <p:sldId id="277" r:id="rId8"/>
    <p:sldId id="279" r:id="rId9"/>
    <p:sldId id="280" r:id="rId10"/>
    <p:sldId id="281" r:id="rId11"/>
    <p:sldId id="257" r:id="rId12"/>
    <p:sldId id="282" r:id="rId13"/>
    <p:sldId id="283" r:id="rId14"/>
    <p:sldId id="263" r:id="rId15"/>
    <p:sldId id="284" r:id="rId16"/>
    <p:sldId id="267" r:id="rId17"/>
    <p:sldId id="270" r:id="rId18"/>
  </p:sldIdLst>
  <p:sldSz cx="18288000" cy="10287000"/>
  <p:notesSz cx="6858000" cy="9144000"/>
  <p:embeddedFontLst>
    <p:embeddedFont>
      <p:font typeface="Inter" panose="020B0604020202020204" charset="0"/>
      <p:regular r:id="rId19"/>
    </p:embeddedFont>
    <p:embeddedFont>
      <p:font typeface="Inter Bold" panose="020B0604020202020204" charset="0"/>
      <p:regular r:id="rId20"/>
    </p:embeddedFont>
    <p:embeddedFont>
      <p:font typeface="Muli" panose="020B0604020202020204" charset="0"/>
      <p:regular r:id="rId21"/>
    </p:embeddedFont>
    <p:embeddedFont>
      <p:font typeface="Muli Extra-Light" panose="020B0604020202020204" charset="0"/>
      <p:regular r:id="rId22"/>
    </p:embeddedFont>
    <p:embeddedFont>
      <p:font typeface="Muli Semi-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259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39" d="100"/>
          <a:sy n="39" d="100"/>
        </p:scale>
        <p:origin x="86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5.svg"/><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7.sv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7.xml"/><Relationship Id="rId5" Type="http://schemas.openxmlformats.org/officeDocument/2006/relationships/image" Target="../media/image19.sv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svg"/><Relationship Id="rId7" Type="http://schemas.openxmlformats.org/officeDocument/2006/relationships/image" Target="../media/image27.sv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svg"/><Relationship Id="rId7" Type="http://schemas.openxmlformats.org/officeDocument/2006/relationships/image" Target="../media/image33.svg"/><Relationship Id="rId2"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svg"/><Relationship Id="rId4" Type="http://schemas.openxmlformats.org/officeDocument/2006/relationships/image" Target="../media/image30.png"/><Relationship Id="rId9" Type="http://schemas.openxmlformats.org/officeDocument/2006/relationships/image" Target="../media/image35.svg"/></Relationships>
</file>

<file path=ppt/slides/_rels/slide15.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grpSp>
        <p:nvGrpSpPr>
          <p:cNvPr id="9" name="Group 2">
            <a:extLst>
              <a:ext uri="{FF2B5EF4-FFF2-40B4-BE49-F238E27FC236}">
                <a16:creationId xmlns:a16="http://schemas.microsoft.com/office/drawing/2014/main" id="{7FC46EA7-B4AD-4AA8-367B-AB7AFAF2823C}"/>
              </a:ext>
            </a:extLst>
          </p:cNvPr>
          <p:cNvGrpSpPr/>
          <p:nvPr/>
        </p:nvGrpSpPr>
        <p:grpSpPr>
          <a:xfrm>
            <a:off x="1157556" y="2710224"/>
            <a:ext cx="10042941" cy="4625360"/>
            <a:chOff x="0" y="0"/>
            <a:chExt cx="12859377" cy="6167145"/>
          </a:xfrm>
        </p:grpSpPr>
        <p:sp>
          <p:nvSpPr>
            <p:cNvPr id="10" name="TextBox 3">
              <a:extLst>
                <a:ext uri="{FF2B5EF4-FFF2-40B4-BE49-F238E27FC236}">
                  <a16:creationId xmlns:a16="http://schemas.microsoft.com/office/drawing/2014/main" id="{C11E4470-1373-F538-A0EF-B3B3F0D58985}"/>
                </a:ext>
              </a:extLst>
            </p:cNvPr>
            <p:cNvSpPr txBox="1"/>
            <p:nvPr/>
          </p:nvSpPr>
          <p:spPr>
            <a:xfrm>
              <a:off x="0" y="0"/>
              <a:ext cx="12470254" cy="2994581"/>
            </a:xfrm>
            <a:prstGeom prst="rect">
              <a:avLst/>
            </a:prstGeom>
          </p:spPr>
          <p:txBody>
            <a:bodyPr lIns="0" tIns="0" rIns="0" bIns="0" rtlCol="0" anchor="t">
              <a:spAutoFit/>
            </a:bodyPr>
            <a:lstStyle/>
            <a:p>
              <a:pPr algn="l">
                <a:lnSpc>
                  <a:spcPts val="8999"/>
                </a:lnSpc>
              </a:pPr>
              <a:r>
                <a:rPr lang="en-US" sz="7499" b="1">
                  <a:solidFill>
                    <a:srgbClr val="9976FF"/>
                  </a:solidFill>
                  <a:latin typeface="Inter Bold"/>
                  <a:ea typeface="Inter Bold"/>
                  <a:cs typeface="Inter Bold"/>
                  <a:sym typeface="Inter Bold"/>
                </a:rPr>
                <a:t>Ứng dụng To-do-list</a:t>
              </a:r>
            </a:p>
          </p:txBody>
        </p:sp>
        <p:sp>
          <p:nvSpPr>
            <p:cNvPr id="11" name="TextBox 4">
              <a:extLst>
                <a:ext uri="{FF2B5EF4-FFF2-40B4-BE49-F238E27FC236}">
                  <a16:creationId xmlns:a16="http://schemas.microsoft.com/office/drawing/2014/main" id="{7720EB4A-F039-08B8-84BA-8BC8F39D82EE}"/>
                </a:ext>
              </a:extLst>
            </p:cNvPr>
            <p:cNvSpPr txBox="1"/>
            <p:nvPr/>
          </p:nvSpPr>
          <p:spPr>
            <a:xfrm>
              <a:off x="3706484" y="4057167"/>
              <a:ext cx="9152893" cy="2109978"/>
            </a:xfrm>
            <a:prstGeom prst="rect">
              <a:avLst/>
            </a:prstGeom>
          </p:spPr>
          <p:txBody>
            <a:bodyPr wrap="square" lIns="0" tIns="0" rIns="0" bIns="0" rtlCol="0" anchor="t">
              <a:spAutoFit/>
            </a:bodyPr>
            <a:lstStyle/>
            <a:p>
              <a:pPr algn="l">
                <a:lnSpc>
                  <a:spcPts val="4200"/>
                </a:lnSpc>
              </a:pPr>
              <a:r>
                <a:rPr lang="en-US" sz="3000">
                  <a:solidFill>
                    <a:schemeClr val="tx2">
                      <a:lumMod val="60000"/>
                      <a:lumOff val="40000"/>
                    </a:schemeClr>
                  </a:solidFill>
                  <a:latin typeface="Inter"/>
                  <a:ea typeface="Inter"/>
                  <a:cs typeface="Inter"/>
                  <a:sym typeface="Inter"/>
                </a:rPr>
                <a:t>Thành viên:</a:t>
              </a:r>
              <a:br>
                <a:rPr lang="en-US" sz="3000">
                  <a:solidFill>
                    <a:schemeClr val="tx2">
                      <a:lumMod val="60000"/>
                      <a:lumOff val="40000"/>
                    </a:schemeClr>
                  </a:solidFill>
                  <a:latin typeface="Inter"/>
                  <a:ea typeface="Inter"/>
                  <a:cs typeface="Inter"/>
                  <a:sym typeface="Inter"/>
                </a:rPr>
              </a:br>
              <a:r>
                <a:rPr lang="vi-VN" sz="3000">
                  <a:solidFill>
                    <a:schemeClr val="tx2">
                      <a:lumMod val="60000"/>
                      <a:lumOff val="40000"/>
                    </a:schemeClr>
                  </a:solidFill>
                  <a:latin typeface="Inter"/>
                  <a:ea typeface="Inter"/>
                </a:rPr>
                <a:t>2001215599 </a:t>
              </a:r>
              <a:r>
                <a:rPr lang="en-US" sz="3000">
                  <a:solidFill>
                    <a:schemeClr val="tx2">
                      <a:lumMod val="60000"/>
                      <a:lumOff val="40000"/>
                    </a:schemeClr>
                  </a:solidFill>
                  <a:latin typeface="Inter"/>
                  <a:ea typeface="Inter"/>
                </a:rPr>
                <a:t>- </a:t>
              </a:r>
              <a:r>
                <a:rPr lang="vi-VN" sz="3000">
                  <a:solidFill>
                    <a:schemeClr val="tx2">
                      <a:lumMod val="60000"/>
                      <a:lumOff val="40000"/>
                    </a:schemeClr>
                  </a:solidFill>
                  <a:latin typeface="Inter"/>
                  <a:ea typeface="Inter"/>
                </a:rPr>
                <a:t>Nguyễn Việt Anh</a:t>
              </a:r>
              <a:r>
                <a:rPr lang="en-US" sz="3000">
                  <a:solidFill>
                    <a:schemeClr val="tx2">
                      <a:lumMod val="60000"/>
                      <a:lumOff val="40000"/>
                    </a:schemeClr>
                  </a:solidFill>
                  <a:latin typeface="Inter"/>
                  <a:ea typeface="Inter"/>
                </a:rPr>
                <a:t> </a:t>
              </a:r>
              <a:r>
                <a:rPr lang="vi-VN" sz="3000">
                  <a:solidFill>
                    <a:schemeClr val="tx2">
                      <a:lumMod val="60000"/>
                      <a:lumOff val="40000"/>
                    </a:schemeClr>
                  </a:solidFill>
                  <a:latin typeface="Inter"/>
                  <a:ea typeface="Inter"/>
                </a:rPr>
                <a:t>(NT)</a:t>
              </a:r>
              <a:br>
                <a:rPr lang="vi-VN" sz="3000">
                  <a:solidFill>
                    <a:schemeClr val="tx2">
                      <a:lumMod val="60000"/>
                      <a:lumOff val="40000"/>
                    </a:schemeClr>
                  </a:solidFill>
                  <a:latin typeface="Inter"/>
                  <a:ea typeface="Inter"/>
                </a:rPr>
              </a:br>
              <a:r>
                <a:rPr lang="vi-VN" sz="3000">
                  <a:solidFill>
                    <a:schemeClr val="tx2">
                      <a:lumMod val="60000"/>
                      <a:lumOff val="40000"/>
                    </a:schemeClr>
                  </a:solidFill>
                  <a:latin typeface="Inter"/>
                  <a:ea typeface="Inter"/>
                </a:rPr>
                <a:t>2001210244 </a:t>
              </a:r>
              <a:r>
                <a:rPr lang="en-US" sz="3000">
                  <a:solidFill>
                    <a:schemeClr val="tx2">
                      <a:lumMod val="60000"/>
                      <a:lumOff val="40000"/>
                    </a:schemeClr>
                  </a:solidFill>
                  <a:latin typeface="Inter"/>
                  <a:ea typeface="Inter"/>
                </a:rPr>
                <a:t>- </a:t>
              </a:r>
              <a:r>
                <a:rPr lang="vi-VN" sz="3000">
                  <a:solidFill>
                    <a:schemeClr val="tx2">
                      <a:lumMod val="60000"/>
                      <a:lumOff val="40000"/>
                    </a:schemeClr>
                  </a:solidFill>
                  <a:latin typeface="Inter"/>
                  <a:ea typeface="Inter"/>
                </a:rPr>
                <a:t>Phạm Huỳnh Chương</a:t>
              </a:r>
              <a:endParaRPr lang="en-US" sz="3000">
                <a:solidFill>
                  <a:schemeClr val="tx2">
                    <a:lumMod val="60000"/>
                    <a:lumOff val="40000"/>
                  </a:schemeClr>
                </a:solidFill>
                <a:latin typeface="Inter"/>
                <a:ea typeface="Inter"/>
                <a:sym typeface="Inter"/>
              </a:endParaRPr>
            </a:p>
          </p:txBody>
        </p:sp>
      </p:grpSp>
      <p:grpSp>
        <p:nvGrpSpPr>
          <p:cNvPr id="15" name="Group 14">
            <a:extLst>
              <a:ext uri="{FF2B5EF4-FFF2-40B4-BE49-F238E27FC236}">
                <a16:creationId xmlns:a16="http://schemas.microsoft.com/office/drawing/2014/main" id="{FAC3D92D-033D-F8A3-D90E-4DABA208D1F3}"/>
              </a:ext>
            </a:extLst>
          </p:cNvPr>
          <p:cNvGrpSpPr/>
          <p:nvPr/>
        </p:nvGrpSpPr>
        <p:grpSpPr>
          <a:xfrm>
            <a:off x="13971875" y="-9874"/>
            <a:ext cx="4329572" cy="10308080"/>
            <a:chOff x="13971875" y="-9874"/>
            <a:chExt cx="4329572" cy="10308080"/>
          </a:xfrm>
        </p:grpSpPr>
        <p:pic>
          <p:nvPicPr>
            <p:cNvPr id="1026" name="Picture 2" descr="7 sai lầm về ứng dụng To-Do List mà bạn nên tránh - myXteam">
              <a:extLst>
                <a:ext uri="{FF2B5EF4-FFF2-40B4-BE49-F238E27FC236}">
                  <a16:creationId xmlns:a16="http://schemas.microsoft.com/office/drawing/2014/main" id="{988C1130-C4F2-7764-A7C5-5DC66400C9C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989804" y="4187850"/>
              <a:ext cx="4298196" cy="160564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DE8AB86A-D618-B11D-0F66-051FCB905C45}"/>
                </a:ext>
              </a:extLst>
            </p:cNvPr>
            <p:cNvPicPr>
              <a:picLocks noChangeAspect="1"/>
            </p:cNvPicPr>
            <p:nvPr/>
          </p:nvPicPr>
          <p:blipFill>
            <a:blip r:embed="rId3"/>
            <a:stretch>
              <a:fillRect/>
            </a:stretch>
          </p:blipFill>
          <p:spPr>
            <a:xfrm>
              <a:off x="13971875" y="5793498"/>
              <a:ext cx="4316125" cy="2258772"/>
            </a:xfrm>
            <a:prstGeom prst="rect">
              <a:avLst/>
            </a:prstGeom>
          </p:spPr>
        </p:pic>
        <p:pic>
          <p:nvPicPr>
            <p:cNvPr id="1032" name="Picture 8" descr="To do list là gì? Bí quyết tổ chức công việc hiệu quả mỗi ngày">
              <a:extLst>
                <a:ext uri="{FF2B5EF4-FFF2-40B4-BE49-F238E27FC236}">
                  <a16:creationId xmlns:a16="http://schemas.microsoft.com/office/drawing/2014/main" id="{E2DF769F-C209-76CE-EDD6-236075355A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989804" y="8052270"/>
              <a:ext cx="4311643" cy="2245936"/>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To Do List: Cos'è e Perché è Utile? Scopri i 7 Metodi Più Efficaci">
              <a:extLst>
                <a:ext uri="{FF2B5EF4-FFF2-40B4-BE49-F238E27FC236}">
                  <a16:creationId xmlns:a16="http://schemas.microsoft.com/office/drawing/2014/main" id="{ABCED889-9B39-B412-1A66-C97077DDDDB3}"/>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1414" r="27389"/>
            <a:stretch/>
          </p:blipFill>
          <p:spPr bwMode="auto">
            <a:xfrm>
              <a:off x="13980839" y="-9874"/>
              <a:ext cx="4298196" cy="4197724"/>
            </a:xfrm>
            <a:prstGeom prst="rect">
              <a:avLst/>
            </a:prstGeom>
            <a:noFill/>
            <a:extLst>
              <a:ext uri="{909E8E84-426E-40DD-AFC4-6F175D3DCCD1}">
                <a14:hiddenFill xmlns:a14="http://schemas.microsoft.com/office/drawing/2010/main">
                  <a:solidFill>
                    <a:srgbClr val="FFFFFF"/>
                  </a:solidFill>
                </a14:hiddenFill>
              </a:ext>
            </a:extLst>
          </p:spPr>
        </p:pic>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190500"/>
            <a:ext cx="9982200" cy="1143000"/>
          </a:xfrm>
        </p:spPr>
        <p:txBody>
          <a:bodyPr>
            <a:normAutofit/>
          </a:bodyPr>
          <a:lstStyle/>
          <a:p>
            <a:r>
              <a:t>Phân Công Công Việc và Đánh Giá Nhóm</a:t>
            </a:r>
          </a:p>
        </p:txBody>
      </p:sp>
      <p:graphicFrame>
        <p:nvGraphicFramePr>
          <p:cNvPr id="3" name="Table 2"/>
          <p:cNvGraphicFramePr>
            <a:graphicFrameLocks noGrp="1"/>
          </p:cNvGraphicFramePr>
          <p:nvPr>
            <p:extLst>
              <p:ext uri="{D42A27DB-BD31-4B8C-83A1-F6EECF244321}">
                <p14:modId xmlns:p14="http://schemas.microsoft.com/office/powerpoint/2010/main" val="2333123361"/>
              </p:ext>
            </p:extLst>
          </p:nvPr>
        </p:nvGraphicFramePr>
        <p:xfrm>
          <a:off x="1219200" y="1257300"/>
          <a:ext cx="16535399" cy="8594725"/>
        </p:xfrm>
        <a:graphic>
          <a:graphicData uri="http://schemas.openxmlformats.org/drawingml/2006/table">
            <a:tbl>
              <a:tblPr firstRow="1" bandRow="1">
                <a:tableStyleId>{5C22544A-7EE6-4342-B048-85BDC9FD1C3A}</a:tableStyleId>
              </a:tblPr>
              <a:tblGrid>
                <a:gridCol w="1307885">
                  <a:extLst>
                    <a:ext uri="{9D8B030D-6E8A-4147-A177-3AD203B41FA5}">
                      <a16:colId xmlns:a16="http://schemas.microsoft.com/office/drawing/2014/main" val="20000"/>
                    </a:ext>
                  </a:extLst>
                </a:gridCol>
                <a:gridCol w="3736813">
                  <a:extLst>
                    <a:ext uri="{9D8B030D-6E8A-4147-A177-3AD203B41FA5}">
                      <a16:colId xmlns:a16="http://schemas.microsoft.com/office/drawing/2014/main" val="20001"/>
                    </a:ext>
                  </a:extLst>
                </a:gridCol>
                <a:gridCol w="6766302">
                  <a:extLst>
                    <a:ext uri="{9D8B030D-6E8A-4147-A177-3AD203B41FA5}">
                      <a16:colId xmlns:a16="http://schemas.microsoft.com/office/drawing/2014/main" val="20002"/>
                    </a:ext>
                  </a:extLst>
                </a:gridCol>
                <a:gridCol w="1981200">
                  <a:extLst>
                    <a:ext uri="{9D8B030D-6E8A-4147-A177-3AD203B41FA5}">
                      <a16:colId xmlns:a16="http://schemas.microsoft.com/office/drawing/2014/main" val="20003"/>
                    </a:ext>
                  </a:extLst>
                </a:gridCol>
                <a:gridCol w="2743199">
                  <a:extLst>
                    <a:ext uri="{9D8B030D-6E8A-4147-A177-3AD203B41FA5}">
                      <a16:colId xmlns:a16="http://schemas.microsoft.com/office/drawing/2014/main" val="20004"/>
                    </a:ext>
                  </a:extLst>
                </a:gridCol>
              </a:tblGrid>
              <a:tr h="777875">
                <a:tc>
                  <a:txBody>
                    <a:bodyPr/>
                    <a:lstStyle/>
                    <a:p>
                      <a:pPr>
                        <a:defRPr b="1"/>
                      </a:pPr>
                      <a:r>
                        <a:rPr sz="2700"/>
                        <a:t>STT</a:t>
                      </a:r>
                    </a:p>
                  </a:txBody>
                  <a:tcPr marL="137160" marR="137160" marT="68580" marB="68580"/>
                </a:tc>
                <a:tc>
                  <a:txBody>
                    <a:bodyPr/>
                    <a:lstStyle/>
                    <a:p>
                      <a:pPr>
                        <a:defRPr b="1"/>
                      </a:pPr>
                      <a:r>
                        <a:rPr sz="2700"/>
                        <a:t>Họ và tên</a:t>
                      </a:r>
                    </a:p>
                  </a:txBody>
                  <a:tcPr marL="137160" marR="137160" marT="68580" marB="68580"/>
                </a:tc>
                <a:tc>
                  <a:txBody>
                    <a:bodyPr/>
                    <a:lstStyle/>
                    <a:p>
                      <a:pPr>
                        <a:defRPr b="1"/>
                      </a:pPr>
                      <a:r>
                        <a:rPr sz="2700"/>
                        <a:t>Công việc đảm nhận</a:t>
                      </a:r>
                    </a:p>
                  </a:txBody>
                  <a:tcPr marL="137160" marR="137160" marT="68580" marB="68580"/>
                </a:tc>
                <a:tc>
                  <a:txBody>
                    <a:bodyPr/>
                    <a:lstStyle/>
                    <a:p>
                      <a:pPr>
                        <a:defRPr b="1"/>
                      </a:pPr>
                      <a:r>
                        <a:rPr sz="2700"/>
                        <a:t>Tỷ lệ đóng góp (%)</a:t>
                      </a:r>
                    </a:p>
                  </a:txBody>
                  <a:tcPr marL="137160" marR="137160" marT="68580" marB="68580"/>
                </a:tc>
                <a:tc>
                  <a:txBody>
                    <a:bodyPr/>
                    <a:lstStyle/>
                    <a:p>
                      <a:pPr>
                        <a:defRPr b="1"/>
                      </a:pPr>
                      <a:r>
                        <a:rPr sz="2700"/>
                        <a:t>Đánh giá từ thành viên còn lại</a:t>
                      </a:r>
                    </a:p>
                  </a:txBody>
                  <a:tcPr marL="137160" marR="137160" marT="68580" marB="68580"/>
                </a:tc>
                <a:extLst>
                  <a:ext uri="{0D108BD9-81ED-4DB2-BD59-A6C34878D82A}">
                    <a16:rowId xmlns:a16="http://schemas.microsoft.com/office/drawing/2014/main" val="10000"/>
                  </a:ext>
                </a:extLst>
              </a:tr>
              <a:tr h="4111625">
                <a:tc>
                  <a:txBody>
                    <a:bodyPr/>
                    <a:lstStyle/>
                    <a:p>
                      <a:r>
                        <a:rPr sz="2700"/>
                        <a:t>1</a:t>
                      </a:r>
                    </a:p>
                  </a:txBody>
                  <a:tcPr marL="137160" marR="137160" marT="68580" marB="68580"/>
                </a:tc>
                <a:tc>
                  <a:txBody>
                    <a:bodyPr/>
                    <a:lstStyle/>
                    <a:p>
                      <a:r>
                        <a:rPr sz="2700"/>
                        <a:t>Nguyễn V</a:t>
                      </a:r>
                      <a:r>
                        <a:rPr lang="en-ZW" sz="2700"/>
                        <a:t>iệt Anh</a:t>
                      </a:r>
                      <a:endParaRPr sz="2700"/>
                    </a:p>
                  </a:txBody>
                  <a:tcPr marL="137160" marR="137160" marT="68580" marB="68580"/>
                </a:tc>
                <a:tc>
                  <a:txBody>
                    <a:bodyPr/>
                    <a:lstStyle/>
                    <a:p>
                      <a:r>
                        <a:rPr sz="2700"/>
                        <a:t>- </a:t>
                      </a:r>
                      <a:r>
                        <a:rPr lang="en-ZW" sz="2700"/>
                        <a:t>Phân tích yêu cầu đề tài</a:t>
                      </a:r>
                    </a:p>
                    <a:p>
                      <a:r>
                        <a:rPr lang="en-ZW" sz="2700"/>
                        <a:t>- Phân tích các nghiệp vụ </a:t>
                      </a:r>
                    </a:p>
                    <a:p>
                      <a:r>
                        <a:rPr lang="en-ZW" sz="2700"/>
                        <a:t>- Xây dựng database ( table,constrain)</a:t>
                      </a:r>
                    </a:p>
                    <a:p>
                      <a:pPr marL="0" indent="0">
                        <a:buFontTx/>
                        <a:buNone/>
                      </a:pPr>
                      <a:r>
                        <a:rPr lang="en-ZW" sz="2700"/>
                        <a:t>- Xây dựng mô hình model, control, view</a:t>
                      </a:r>
                    </a:p>
                    <a:p>
                      <a:pPr marL="0" indent="0">
                        <a:buFontTx/>
                        <a:buNone/>
                      </a:pPr>
                      <a:r>
                        <a:rPr lang="en-ZW" sz="2700"/>
                        <a:t>- Tạo và xây dựng các chức năng của Task</a:t>
                      </a:r>
                      <a:br>
                        <a:rPr lang="en-ZW" sz="2700"/>
                      </a:br>
                      <a:r>
                        <a:rPr lang="en-ZW" sz="2700"/>
                        <a:t>- Xây dựng chức năng login, register, logout</a:t>
                      </a:r>
                      <a:br>
                        <a:rPr lang="en-ZW" sz="2700"/>
                      </a:br>
                      <a:r>
                        <a:rPr lang="en-ZW" sz="2700"/>
                        <a:t>- Xây dựng chức năng profile, update thông tin , đổi mật khẩu</a:t>
                      </a:r>
                    </a:p>
                    <a:p>
                      <a:pPr marL="0" indent="0">
                        <a:buFontTx/>
                        <a:buNone/>
                      </a:pPr>
                      <a:r>
                        <a:rPr lang="en-ZW" sz="2700"/>
                        <a:t>- Xây dựng trang chủ thống kê</a:t>
                      </a:r>
                    </a:p>
                  </a:txBody>
                  <a:tcPr marL="137160" marR="137160" marT="68580" marB="68580"/>
                </a:tc>
                <a:tc>
                  <a:txBody>
                    <a:bodyPr/>
                    <a:lstStyle/>
                    <a:p>
                      <a:r>
                        <a:rPr lang="en-ZW" sz="2700"/>
                        <a:t>6</a:t>
                      </a:r>
                      <a:r>
                        <a:rPr sz="2700"/>
                        <a:t>0%</a:t>
                      </a:r>
                    </a:p>
                  </a:txBody>
                  <a:tcPr marL="137160" marR="137160" marT="68580" marB="68580"/>
                </a:tc>
                <a:tc>
                  <a:txBody>
                    <a:bodyPr/>
                    <a:lstStyle/>
                    <a:p>
                      <a:r>
                        <a:rPr sz="2700"/>
                        <a:t>Làm việc nghiêm túc, phối hợp tốt</a:t>
                      </a:r>
                    </a:p>
                  </a:txBody>
                  <a:tcPr marL="137160" marR="137160" marT="68580" marB="68580"/>
                </a:tc>
                <a:extLst>
                  <a:ext uri="{0D108BD9-81ED-4DB2-BD59-A6C34878D82A}">
                    <a16:rowId xmlns:a16="http://schemas.microsoft.com/office/drawing/2014/main" val="10001"/>
                  </a:ext>
                </a:extLst>
              </a:tr>
              <a:tr h="3111500">
                <a:tc>
                  <a:txBody>
                    <a:bodyPr/>
                    <a:lstStyle/>
                    <a:p>
                      <a:r>
                        <a:rPr sz="2700"/>
                        <a:t>2</a:t>
                      </a:r>
                    </a:p>
                  </a:txBody>
                  <a:tcPr marL="137160" marR="137160" marT="68580" marB="68580"/>
                </a:tc>
                <a:tc>
                  <a:txBody>
                    <a:bodyPr/>
                    <a:lstStyle/>
                    <a:p>
                      <a:r>
                        <a:rPr lang="en-ZW" sz="2700"/>
                        <a:t>Phạm Huỳnh Chương</a:t>
                      </a:r>
                      <a:endParaRPr sz="2700"/>
                    </a:p>
                  </a:txBody>
                  <a:tcPr marL="137160" marR="137160" marT="68580" marB="68580"/>
                </a:tc>
                <a:tc>
                  <a:txBody>
                    <a:bodyPr/>
                    <a:lstStyle/>
                    <a:p>
                      <a:r>
                        <a:rPr lang="en-ZW" sz="2700"/>
                        <a:t>- Phân tích yêu cầu đề tài</a:t>
                      </a:r>
                    </a:p>
                    <a:p>
                      <a:pPr marL="457200" indent="-457200">
                        <a:buFontTx/>
                        <a:buChar char="-"/>
                      </a:pPr>
                      <a:r>
                        <a:rPr lang="en-ZW" sz="2700"/>
                        <a:t>Phân tích các nghiệp vụ </a:t>
                      </a:r>
                    </a:p>
                    <a:p>
                      <a:pPr marL="0" indent="0">
                        <a:buFontTx/>
                        <a:buNone/>
                      </a:pPr>
                      <a:r>
                        <a:rPr lang="en-ZW" sz="2700"/>
                        <a:t>-   Xây dựng database ( table,constrain)</a:t>
                      </a:r>
                    </a:p>
                    <a:p>
                      <a:pPr marL="457200" marR="0" lvl="0" indent="-457200" algn="l" defTabSz="914400" rtl="0" eaLnBrk="1" fontAlgn="auto" latinLnBrk="0" hangingPunct="1">
                        <a:lnSpc>
                          <a:spcPct val="100000"/>
                        </a:lnSpc>
                        <a:spcBef>
                          <a:spcPts val="0"/>
                        </a:spcBef>
                        <a:spcAft>
                          <a:spcPts val="0"/>
                        </a:spcAft>
                        <a:buClrTx/>
                        <a:buSzTx/>
                        <a:buFontTx/>
                        <a:buChar char="-"/>
                        <a:tabLst/>
                        <a:defRPr/>
                      </a:pPr>
                      <a:r>
                        <a:rPr lang="en-ZW" sz="2700"/>
                        <a:t>Tìm hiểu về các công nghệ sử dụng để làm báo cáo</a:t>
                      </a:r>
                    </a:p>
                    <a:p>
                      <a:pPr marL="457200" indent="-457200">
                        <a:buFontTx/>
                        <a:buChar char="-"/>
                      </a:pPr>
                      <a:r>
                        <a:rPr lang="en-ZW" sz="2700"/>
                        <a:t>Xây dựng các chức năng Danh mục</a:t>
                      </a:r>
                    </a:p>
                    <a:p>
                      <a:r>
                        <a:rPr lang="en-ZW" sz="2700"/>
                        <a:t>- Xây dựng thông báo task</a:t>
                      </a:r>
                      <a:endParaRPr sz="2700"/>
                    </a:p>
                  </a:txBody>
                  <a:tcPr marL="137160" marR="137160" marT="68580" marB="68580"/>
                </a:tc>
                <a:tc>
                  <a:txBody>
                    <a:bodyPr/>
                    <a:lstStyle/>
                    <a:p>
                      <a:r>
                        <a:rPr lang="en-ZW" sz="2700"/>
                        <a:t>4</a:t>
                      </a:r>
                      <a:r>
                        <a:rPr sz="2700"/>
                        <a:t>0%</a:t>
                      </a:r>
                    </a:p>
                  </a:txBody>
                  <a:tcPr marL="137160" marR="137160" marT="68580" marB="68580"/>
                </a:tc>
                <a:tc>
                  <a:txBody>
                    <a:bodyPr/>
                    <a:lstStyle/>
                    <a:p>
                      <a:r>
                        <a:rPr sz="2700"/>
                        <a:t>Trách nhiệm cao, chủ động đóng góp</a:t>
                      </a:r>
                    </a:p>
                  </a:txBody>
                  <a:tcPr marL="137160" marR="137160" marT="68580" marB="68580"/>
                </a:tc>
                <a:extLst>
                  <a:ext uri="{0D108BD9-81ED-4DB2-BD59-A6C34878D82A}">
                    <a16:rowId xmlns:a16="http://schemas.microsoft.com/office/drawing/2014/main" val="10002"/>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80E9E490-E7D9-6B09-4233-0193F53D3B6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55AD664-CAAC-A8FA-0F75-BC6604AB94A3}"/>
              </a:ext>
            </a:extLst>
          </p:cNvPr>
          <p:cNvGrpSpPr/>
          <p:nvPr/>
        </p:nvGrpSpPr>
        <p:grpSpPr>
          <a:xfrm>
            <a:off x="1058856" y="943700"/>
            <a:ext cx="9352690" cy="7841050"/>
            <a:chOff x="0" y="0"/>
            <a:chExt cx="12470254" cy="10454732"/>
          </a:xfrm>
        </p:grpSpPr>
        <p:sp>
          <p:nvSpPr>
            <p:cNvPr id="3" name="TextBox 3">
              <a:extLst>
                <a:ext uri="{FF2B5EF4-FFF2-40B4-BE49-F238E27FC236}">
                  <a16:creationId xmlns:a16="http://schemas.microsoft.com/office/drawing/2014/main" id="{B9F10BB0-617B-126A-202D-883C940F156D}"/>
                </a:ext>
              </a:extLst>
            </p:cNvPr>
            <p:cNvSpPr txBox="1"/>
            <p:nvPr/>
          </p:nvSpPr>
          <p:spPr>
            <a:xfrm>
              <a:off x="0" y="0"/>
              <a:ext cx="12470254" cy="1455699"/>
            </a:xfrm>
            <a:prstGeom prst="rect">
              <a:avLst/>
            </a:prstGeom>
          </p:spPr>
          <p:txBody>
            <a:bodyPr lIns="0" tIns="0" rIns="0" bIns="0" rtlCol="0" anchor="t">
              <a:spAutoFit/>
            </a:bodyPr>
            <a:lstStyle/>
            <a:p>
              <a:pPr algn="l">
                <a:lnSpc>
                  <a:spcPts val="8999"/>
                </a:lnSpc>
              </a:pPr>
              <a:r>
                <a:rPr lang="en-US" sz="7499" b="1">
                  <a:solidFill>
                    <a:srgbClr val="9976FF"/>
                  </a:solidFill>
                  <a:latin typeface="Inter Bold"/>
                  <a:ea typeface="Inter Bold"/>
                  <a:cs typeface="Inter Bold"/>
                  <a:sym typeface="Inter Bold"/>
                </a:rPr>
                <a:t>To-do-list là gì ?</a:t>
              </a:r>
            </a:p>
          </p:txBody>
        </p:sp>
        <p:sp>
          <p:nvSpPr>
            <p:cNvPr id="4" name="TextBox 4">
              <a:extLst>
                <a:ext uri="{FF2B5EF4-FFF2-40B4-BE49-F238E27FC236}">
                  <a16:creationId xmlns:a16="http://schemas.microsoft.com/office/drawing/2014/main" id="{2D1B4BA4-6A38-2FBD-8B77-BC68DF97392C}"/>
                </a:ext>
              </a:extLst>
            </p:cNvPr>
            <p:cNvSpPr txBox="1"/>
            <p:nvPr/>
          </p:nvSpPr>
          <p:spPr>
            <a:xfrm>
              <a:off x="0" y="3678861"/>
              <a:ext cx="12470254" cy="6775871"/>
            </a:xfrm>
            <a:prstGeom prst="rect">
              <a:avLst/>
            </a:prstGeom>
          </p:spPr>
          <p:txBody>
            <a:bodyPr lIns="0" tIns="0" rIns="0" bIns="0" rtlCol="0" anchor="t">
              <a:spAutoFit/>
            </a:bodyPr>
            <a:lstStyle/>
            <a:p>
              <a:pPr marL="457200" indent="-457200" algn="l">
                <a:lnSpc>
                  <a:spcPct val="150000"/>
                </a:lnSpc>
                <a:buFont typeface="Wingdings" panose="05000000000000000000" pitchFamily="2" charset="2"/>
                <a:buChar char="v"/>
              </a:pPr>
              <a:r>
                <a:rPr lang="vi-VN" sz="3200">
                  <a:solidFill>
                    <a:schemeClr val="accent6">
                      <a:lumMod val="75000"/>
                    </a:schemeClr>
                  </a:solidFill>
                </a:rPr>
                <a:t>To-do list là danh sách những việc cần hoặc muốn làm, được ghi lại để dễ nhớ và theo dõi. </a:t>
              </a:r>
              <a:endParaRPr lang="en-US" sz="3200">
                <a:solidFill>
                  <a:schemeClr val="accent6">
                    <a:lumMod val="75000"/>
                  </a:schemeClr>
                </a:solidFill>
              </a:endParaRPr>
            </a:p>
            <a:p>
              <a:pPr marL="457200" indent="-457200" algn="l">
                <a:lnSpc>
                  <a:spcPct val="150000"/>
                </a:lnSpc>
                <a:buFont typeface="Wingdings" panose="05000000000000000000" pitchFamily="2" charset="2"/>
                <a:buChar char="v"/>
              </a:pPr>
              <a:r>
                <a:rPr lang="vi-VN" sz="3200">
                  <a:solidFill>
                    <a:schemeClr val="accent6">
                      <a:lumMod val="75000"/>
                    </a:schemeClr>
                  </a:solidFill>
                </a:rPr>
                <a:t>Danh sách này có thể viết trên giấy, sổ tay hoặc lưu trên thiết bị điện tử. </a:t>
              </a:r>
              <a:endParaRPr lang="en-US" sz="3200">
                <a:solidFill>
                  <a:schemeClr val="accent6">
                    <a:lumMod val="75000"/>
                  </a:schemeClr>
                </a:solidFill>
              </a:endParaRPr>
            </a:p>
            <a:p>
              <a:pPr marL="457200" indent="-457200" algn="l">
                <a:lnSpc>
                  <a:spcPct val="150000"/>
                </a:lnSpc>
                <a:buFont typeface="Wingdings" panose="05000000000000000000" pitchFamily="2" charset="2"/>
                <a:buChar char="v"/>
              </a:pPr>
              <a:r>
                <a:rPr lang="en-US" sz="3200">
                  <a:solidFill>
                    <a:schemeClr val="accent6">
                      <a:lumMod val="75000"/>
                    </a:schemeClr>
                  </a:solidFill>
                </a:rPr>
                <a:t>Giúp </a:t>
              </a:r>
              <a:r>
                <a:rPr lang="vi-VN" sz="3200">
                  <a:solidFill>
                    <a:schemeClr val="accent6">
                      <a:lumMod val="75000"/>
                    </a:schemeClr>
                  </a:solidFill>
                </a:rPr>
                <a:t>quản lý công việc hiệu quả, tránh quên việc quan trọng trong công việc và cuộc sống hàng ngày.</a:t>
              </a:r>
              <a:endParaRPr lang="en-US" sz="3000">
                <a:solidFill>
                  <a:schemeClr val="accent6">
                    <a:lumMod val="75000"/>
                  </a:schemeClr>
                </a:solidFill>
                <a:latin typeface="Inter"/>
                <a:ea typeface="Inter"/>
                <a:cs typeface="Inter"/>
                <a:sym typeface="Inter"/>
              </a:endParaRPr>
            </a:p>
          </p:txBody>
        </p:sp>
      </p:grpSp>
      <p:sp>
        <p:nvSpPr>
          <p:cNvPr id="7" name="Freeform 28">
            <a:extLst>
              <a:ext uri="{FF2B5EF4-FFF2-40B4-BE49-F238E27FC236}">
                <a16:creationId xmlns:a16="http://schemas.microsoft.com/office/drawing/2014/main" id="{F7080C8E-914D-E9D8-16BC-8F52702B2B85}"/>
              </a:ext>
            </a:extLst>
          </p:cNvPr>
          <p:cNvSpPr/>
          <p:nvPr/>
        </p:nvSpPr>
        <p:spPr>
          <a:xfrm>
            <a:off x="10102738" y="1181100"/>
            <a:ext cx="617617" cy="598527"/>
          </a:xfrm>
          <a:custGeom>
            <a:avLst/>
            <a:gdLst/>
            <a:ahLst/>
            <a:cxnLst/>
            <a:rect l="l" t="t" r="r" b="b"/>
            <a:pathLst>
              <a:path w="617617" h="598527">
                <a:moveTo>
                  <a:pt x="0" y="0"/>
                </a:moveTo>
                <a:lnTo>
                  <a:pt x="617617" y="0"/>
                </a:lnTo>
                <a:lnTo>
                  <a:pt x="617617" y="598527"/>
                </a:lnTo>
                <a:lnTo>
                  <a:pt x="0" y="59852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0" name="Group 9">
            <a:extLst>
              <a:ext uri="{FF2B5EF4-FFF2-40B4-BE49-F238E27FC236}">
                <a16:creationId xmlns:a16="http://schemas.microsoft.com/office/drawing/2014/main" id="{E29C240E-02AE-BB94-B694-120CF016C86B}"/>
              </a:ext>
            </a:extLst>
          </p:cNvPr>
          <p:cNvGrpSpPr/>
          <p:nvPr/>
        </p:nvGrpSpPr>
        <p:grpSpPr>
          <a:xfrm>
            <a:off x="12115800" y="943700"/>
            <a:ext cx="5341944" cy="8710693"/>
            <a:chOff x="11273628" y="943700"/>
            <a:chExt cx="5341944" cy="8710693"/>
          </a:xfrm>
        </p:grpSpPr>
        <p:pic>
          <p:nvPicPr>
            <p:cNvPr id="9" name="Picture 8">
              <a:extLst>
                <a:ext uri="{FF2B5EF4-FFF2-40B4-BE49-F238E27FC236}">
                  <a16:creationId xmlns:a16="http://schemas.microsoft.com/office/drawing/2014/main" id="{873BC466-0746-4987-2A9D-3E2B83D34014}"/>
                </a:ext>
              </a:extLst>
            </p:cNvPr>
            <p:cNvPicPr>
              <a:picLocks noChangeAspect="1"/>
            </p:cNvPicPr>
            <p:nvPr/>
          </p:nvPicPr>
          <p:blipFill>
            <a:blip r:embed="rId4"/>
            <a:stretch>
              <a:fillRect/>
            </a:stretch>
          </p:blipFill>
          <p:spPr>
            <a:xfrm>
              <a:off x="11273628" y="943700"/>
              <a:ext cx="5341944" cy="4574673"/>
            </a:xfrm>
            <a:prstGeom prst="rect">
              <a:avLst/>
            </a:prstGeom>
          </p:spPr>
        </p:pic>
        <p:pic>
          <p:nvPicPr>
            <p:cNvPr id="1026" name="Picture 2" descr="Todolist là gì? Bí kíp 20/80 - làm ít việc, tiền nhiều hơn">
              <a:extLst>
                <a:ext uri="{FF2B5EF4-FFF2-40B4-BE49-F238E27FC236}">
                  <a16:creationId xmlns:a16="http://schemas.microsoft.com/office/drawing/2014/main" id="{02B2666B-8DEF-2724-7F6F-98A1EEF7E7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18064" r="14937"/>
            <a:stretch/>
          </p:blipFill>
          <p:spPr bwMode="auto">
            <a:xfrm>
              <a:off x="11273628" y="5518373"/>
              <a:ext cx="5341944" cy="413602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598061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AutoShape 2"/>
          <p:cNvSpPr/>
          <p:nvPr/>
        </p:nvSpPr>
        <p:spPr>
          <a:xfrm flipV="1">
            <a:off x="4193537" y="6442220"/>
            <a:ext cx="11360562" cy="73819"/>
          </a:xfrm>
          <a:prstGeom prst="line">
            <a:avLst/>
          </a:prstGeom>
          <a:ln w="19050" cap="rnd">
            <a:solidFill>
              <a:srgbClr val="000000">
                <a:alpha val="34902"/>
              </a:srgbClr>
            </a:solidFill>
            <a:prstDash val="solid"/>
            <a:headEnd type="none" w="sm" len="sm"/>
            <a:tailEnd type="none" w="sm" len="sm"/>
          </a:ln>
        </p:spPr>
      </p:sp>
      <p:grpSp>
        <p:nvGrpSpPr>
          <p:cNvPr id="3" name="Group 3"/>
          <p:cNvGrpSpPr/>
          <p:nvPr/>
        </p:nvGrpSpPr>
        <p:grpSpPr>
          <a:xfrm>
            <a:off x="4049104" y="6442220"/>
            <a:ext cx="166688" cy="166688"/>
            <a:chOff x="0" y="0"/>
            <a:chExt cx="6350000" cy="6350000"/>
          </a:xfrm>
        </p:grpSpPr>
        <p:sp>
          <p:nvSpPr>
            <p:cNvPr id="4" name="Freeform 4"/>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976FF"/>
            </a:solidFill>
          </p:spPr>
        </p:sp>
      </p:grpSp>
      <p:grpSp>
        <p:nvGrpSpPr>
          <p:cNvPr id="5" name="Group 5"/>
          <p:cNvGrpSpPr/>
          <p:nvPr/>
        </p:nvGrpSpPr>
        <p:grpSpPr>
          <a:xfrm>
            <a:off x="9599995" y="6395785"/>
            <a:ext cx="166688" cy="166688"/>
            <a:chOff x="0" y="0"/>
            <a:chExt cx="6350000" cy="6350000"/>
          </a:xfrm>
        </p:grpSpPr>
        <p:sp>
          <p:nvSpPr>
            <p:cNvPr id="6" name="Freeform 6"/>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F884FA"/>
            </a:solidFill>
          </p:spPr>
        </p:sp>
      </p:grpSp>
      <p:grpSp>
        <p:nvGrpSpPr>
          <p:cNvPr id="7" name="Group 7"/>
          <p:cNvGrpSpPr/>
          <p:nvPr/>
        </p:nvGrpSpPr>
        <p:grpSpPr>
          <a:xfrm>
            <a:off x="15470755" y="6358876"/>
            <a:ext cx="166688" cy="166688"/>
            <a:chOff x="0" y="0"/>
            <a:chExt cx="6350000" cy="6350000"/>
          </a:xfrm>
        </p:grpSpPr>
        <p:sp>
          <p:nvSpPr>
            <p:cNvPr id="8" name="Freeform 8"/>
            <p:cNvSpPr/>
            <p:nvPr/>
          </p:nvSpPr>
          <p:spPr>
            <a:xfrm>
              <a:off x="0" y="0"/>
              <a:ext cx="6350000" cy="6350000"/>
            </a:xfrm>
            <a:custGeom>
              <a:avLst/>
              <a:gdLst/>
              <a:ahLst/>
              <a:cxnLst/>
              <a:rect l="l" t="t" r="r" b="b"/>
              <a:pathLst>
                <a:path w="6350000" h="6350000">
                  <a:moveTo>
                    <a:pt x="3175000" y="0"/>
                  </a:moveTo>
                  <a:cubicBezTo>
                    <a:pt x="1421496" y="0"/>
                    <a:pt x="0" y="1421496"/>
                    <a:pt x="0" y="3175000"/>
                  </a:cubicBezTo>
                  <a:cubicBezTo>
                    <a:pt x="0" y="4928504"/>
                    <a:pt x="1421496" y="6350000"/>
                    <a:pt x="3175000" y="6350000"/>
                  </a:cubicBezTo>
                  <a:cubicBezTo>
                    <a:pt x="4928504" y="6350000"/>
                    <a:pt x="6350000" y="4928504"/>
                    <a:pt x="6350000" y="3175000"/>
                  </a:cubicBezTo>
                  <a:cubicBezTo>
                    <a:pt x="6350000" y="1421496"/>
                    <a:pt x="4928504" y="0"/>
                    <a:pt x="3175000" y="0"/>
                  </a:cubicBezTo>
                  <a:close/>
                </a:path>
              </a:pathLst>
            </a:custGeom>
            <a:solidFill>
              <a:srgbClr val="9976FF"/>
            </a:solidFill>
          </p:spPr>
        </p:sp>
      </p:grpSp>
      <p:sp>
        <p:nvSpPr>
          <p:cNvPr id="13" name="Freeform 13"/>
          <p:cNvSpPr/>
          <p:nvPr/>
        </p:nvSpPr>
        <p:spPr>
          <a:xfrm>
            <a:off x="-1650242" y="7734300"/>
            <a:ext cx="6755642" cy="4114800"/>
          </a:xfrm>
          <a:custGeom>
            <a:avLst/>
            <a:gdLst/>
            <a:ahLst/>
            <a:cxnLst/>
            <a:rect l="l" t="t" r="r" b="b"/>
            <a:pathLst>
              <a:path w="6755642" h="4114800">
                <a:moveTo>
                  <a:pt x="0" y="0"/>
                </a:moveTo>
                <a:lnTo>
                  <a:pt x="6755641" y="0"/>
                </a:lnTo>
                <a:lnTo>
                  <a:pt x="6755641"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1345027" y="647700"/>
            <a:ext cx="15597945" cy="933589"/>
          </a:xfrm>
          <a:prstGeom prst="rect">
            <a:avLst/>
          </a:prstGeom>
        </p:spPr>
        <p:txBody>
          <a:bodyPr lIns="0" tIns="0" rIns="0" bIns="0" rtlCol="0" anchor="t">
            <a:spAutoFit/>
          </a:bodyPr>
          <a:lstStyle/>
          <a:p>
            <a:pPr algn="ctr">
              <a:lnSpc>
                <a:spcPts val="7680"/>
              </a:lnSpc>
            </a:pPr>
            <a:r>
              <a:rPr lang="en-US" sz="6400" b="1">
                <a:solidFill>
                  <a:srgbClr val="000000"/>
                </a:solidFill>
                <a:latin typeface="Inter Bold"/>
                <a:ea typeface="Inter Bold"/>
                <a:cs typeface="Inter Bold"/>
                <a:sym typeface="Inter Bold"/>
              </a:rPr>
              <a:t>Nguồn gốc To-do-list</a:t>
            </a:r>
          </a:p>
        </p:txBody>
      </p:sp>
      <p:sp>
        <p:nvSpPr>
          <p:cNvPr id="15" name="TextBox 15"/>
          <p:cNvSpPr txBox="1"/>
          <p:nvPr/>
        </p:nvSpPr>
        <p:spPr>
          <a:xfrm>
            <a:off x="2902743" y="5696360"/>
            <a:ext cx="2459408" cy="474392"/>
          </a:xfrm>
          <a:prstGeom prst="rect">
            <a:avLst/>
          </a:prstGeom>
        </p:spPr>
        <p:txBody>
          <a:bodyPr lIns="0" tIns="0" rIns="0" bIns="0" rtlCol="0" anchor="t">
            <a:spAutoFit/>
          </a:bodyPr>
          <a:lstStyle/>
          <a:p>
            <a:pPr algn="ctr">
              <a:lnSpc>
                <a:spcPts val="3919"/>
              </a:lnSpc>
            </a:pPr>
            <a:r>
              <a:rPr lang="en-US" sz="2799" b="1">
                <a:solidFill>
                  <a:srgbClr val="000000"/>
                </a:solidFill>
                <a:latin typeface="Muli Semi-Bold"/>
                <a:ea typeface="Muli Semi-Bold"/>
                <a:cs typeface="Muli Semi-Bold"/>
                <a:sym typeface="Muli Semi-Bold"/>
              </a:rPr>
              <a:t>To do</a:t>
            </a:r>
          </a:p>
        </p:txBody>
      </p:sp>
      <p:sp>
        <p:nvSpPr>
          <p:cNvPr id="16" name="TextBox 16"/>
          <p:cNvSpPr txBox="1"/>
          <p:nvPr/>
        </p:nvSpPr>
        <p:spPr>
          <a:xfrm>
            <a:off x="8377217" y="5600700"/>
            <a:ext cx="2459408" cy="474392"/>
          </a:xfrm>
          <a:prstGeom prst="rect">
            <a:avLst/>
          </a:prstGeom>
        </p:spPr>
        <p:txBody>
          <a:bodyPr lIns="0" tIns="0" rIns="0" bIns="0" rtlCol="0" anchor="t">
            <a:spAutoFit/>
          </a:bodyPr>
          <a:lstStyle/>
          <a:p>
            <a:pPr algn="ctr">
              <a:lnSpc>
                <a:spcPts val="3919"/>
              </a:lnSpc>
            </a:pPr>
            <a:r>
              <a:rPr lang="en-US" sz="2799" b="1">
                <a:solidFill>
                  <a:srgbClr val="000000"/>
                </a:solidFill>
                <a:latin typeface="Muli Semi-Bold"/>
                <a:ea typeface="Muli Semi-Bold"/>
                <a:cs typeface="Muli Semi-Bold"/>
                <a:sym typeface="Muli Semi-Bold"/>
              </a:rPr>
              <a:t>List</a:t>
            </a:r>
          </a:p>
        </p:txBody>
      </p:sp>
      <p:sp>
        <p:nvSpPr>
          <p:cNvPr id="17" name="TextBox 17"/>
          <p:cNvSpPr txBox="1"/>
          <p:nvPr/>
        </p:nvSpPr>
        <p:spPr>
          <a:xfrm>
            <a:off x="14178325" y="5696360"/>
            <a:ext cx="2459408" cy="474392"/>
          </a:xfrm>
          <a:prstGeom prst="rect">
            <a:avLst/>
          </a:prstGeom>
        </p:spPr>
        <p:txBody>
          <a:bodyPr lIns="0" tIns="0" rIns="0" bIns="0" rtlCol="0" anchor="t">
            <a:spAutoFit/>
          </a:bodyPr>
          <a:lstStyle/>
          <a:p>
            <a:pPr algn="ctr">
              <a:lnSpc>
                <a:spcPts val="3919"/>
              </a:lnSpc>
            </a:pPr>
            <a:r>
              <a:rPr lang="en-US" sz="2799" b="1">
                <a:solidFill>
                  <a:srgbClr val="000000"/>
                </a:solidFill>
                <a:latin typeface="Muli Semi-Bold"/>
                <a:ea typeface="Muli Semi-Bold"/>
                <a:cs typeface="Muli Semi-Bold"/>
                <a:sym typeface="Muli Semi-Bold"/>
              </a:rPr>
              <a:t>To-do list</a:t>
            </a:r>
          </a:p>
        </p:txBody>
      </p:sp>
      <p:sp>
        <p:nvSpPr>
          <p:cNvPr id="27" name="TextBox 27"/>
          <p:cNvSpPr txBox="1"/>
          <p:nvPr/>
        </p:nvSpPr>
        <p:spPr>
          <a:xfrm>
            <a:off x="2819400" y="6997526"/>
            <a:ext cx="2459408" cy="431959"/>
          </a:xfrm>
          <a:prstGeom prst="rect">
            <a:avLst/>
          </a:prstGeom>
        </p:spPr>
        <p:txBody>
          <a:bodyPr lIns="0" tIns="0" rIns="0" bIns="0" rtlCol="0" anchor="t">
            <a:spAutoFit/>
          </a:bodyPr>
          <a:lstStyle/>
          <a:p>
            <a:pPr algn="ctr">
              <a:lnSpc>
                <a:spcPts val="3640"/>
              </a:lnSpc>
            </a:pPr>
            <a:r>
              <a:rPr lang="en-US" sz="2600" i="1">
                <a:solidFill>
                  <a:srgbClr val="000000"/>
                </a:solidFill>
                <a:latin typeface="Muli"/>
                <a:ea typeface="Muli"/>
                <a:cs typeface="Muli"/>
                <a:sym typeface="Muli"/>
              </a:rPr>
              <a:t>"làm"</a:t>
            </a:r>
          </a:p>
        </p:txBody>
      </p:sp>
      <p:sp>
        <p:nvSpPr>
          <p:cNvPr id="35" name="TextBox 4">
            <a:extLst>
              <a:ext uri="{FF2B5EF4-FFF2-40B4-BE49-F238E27FC236}">
                <a16:creationId xmlns:a16="http://schemas.microsoft.com/office/drawing/2014/main" id="{0D60497E-98F1-9E5F-E654-BF9DE77ACC40}"/>
              </a:ext>
            </a:extLst>
          </p:cNvPr>
          <p:cNvSpPr txBox="1"/>
          <p:nvPr/>
        </p:nvSpPr>
        <p:spPr>
          <a:xfrm>
            <a:off x="2363405" y="2767601"/>
            <a:ext cx="14095795" cy="1994841"/>
          </a:xfrm>
          <a:prstGeom prst="rect">
            <a:avLst/>
          </a:prstGeom>
        </p:spPr>
        <p:txBody>
          <a:bodyPr wrap="square" lIns="0" tIns="0" rIns="0" bIns="0" rtlCol="0" anchor="t">
            <a:spAutoFit/>
          </a:bodyPr>
          <a:lstStyle/>
          <a:p>
            <a:pPr algn="l">
              <a:lnSpc>
                <a:spcPct val="150000"/>
              </a:lnSpc>
            </a:pPr>
            <a:r>
              <a:rPr lang="vi-VN" sz="3000" b="1">
                <a:solidFill>
                  <a:schemeClr val="tx2">
                    <a:lumMod val="60000"/>
                    <a:lumOff val="40000"/>
                  </a:schemeClr>
                </a:solidFill>
                <a:latin typeface="Inter"/>
                <a:ea typeface="Inter"/>
                <a:cs typeface="Inter"/>
                <a:sym typeface="Inter"/>
              </a:rPr>
              <a:t>“To-do list” nghĩa là “danh sách việc cần làm”, bắt nguồn từ tiếng Anh và Latin. Khái niệm này xuất hiện từ thế kỷ 20, phản ánh nhu cầu tổ chức và quản lý công việc trong xã hội hiện đại.</a:t>
            </a:r>
            <a:endParaRPr lang="en-US" sz="3000" b="1">
              <a:solidFill>
                <a:schemeClr val="tx2">
                  <a:lumMod val="60000"/>
                  <a:lumOff val="40000"/>
                </a:schemeClr>
              </a:solidFill>
              <a:latin typeface="Inter"/>
              <a:ea typeface="Inter"/>
              <a:sym typeface="Inter"/>
            </a:endParaRPr>
          </a:p>
        </p:txBody>
      </p:sp>
      <p:sp>
        <p:nvSpPr>
          <p:cNvPr id="36" name="TextBox 27">
            <a:extLst>
              <a:ext uri="{FF2B5EF4-FFF2-40B4-BE49-F238E27FC236}">
                <a16:creationId xmlns:a16="http://schemas.microsoft.com/office/drawing/2014/main" id="{F1065A49-7551-76F1-776D-EA838441F0FC}"/>
              </a:ext>
            </a:extLst>
          </p:cNvPr>
          <p:cNvSpPr txBox="1"/>
          <p:nvPr/>
        </p:nvSpPr>
        <p:spPr>
          <a:xfrm>
            <a:off x="14178325" y="6998234"/>
            <a:ext cx="2459408" cy="887615"/>
          </a:xfrm>
          <a:prstGeom prst="rect">
            <a:avLst/>
          </a:prstGeom>
        </p:spPr>
        <p:txBody>
          <a:bodyPr lIns="0" tIns="0" rIns="0" bIns="0" rtlCol="0" anchor="t">
            <a:spAutoFit/>
          </a:bodyPr>
          <a:lstStyle/>
          <a:p>
            <a:pPr algn="ctr">
              <a:lnSpc>
                <a:spcPts val="3640"/>
              </a:lnSpc>
            </a:pPr>
            <a:r>
              <a:rPr lang="en-US" sz="2600" i="1">
                <a:solidFill>
                  <a:srgbClr val="000000"/>
                </a:solidFill>
                <a:latin typeface="Muli"/>
                <a:ea typeface="Muli"/>
                <a:cs typeface="Muli"/>
                <a:sym typeface="Muli"/>
              </a:rPr>
              <a:t>"danh sách việc cần làm"</a:t>
            </a:r>
          </a:p>
        </p:txBody>
      </p:sp>
      <p:sp>
        <p:nvSpPr>
          <p:cNvPr id="37" name="TextBox 27">
            <a:extLst>
              <a:ext uri="{FF2B5EF4-FFF2-40B4-BE49-F238E27FC236}">
                <a16:creationId xmlns:a16="http://schemas.microsoft.com/office/drawing/2014/main" id="{B96E7381-EF73-F699-DF3C-14F4A74E597E}"/>
              </a:ext>
            </a:extLst>
          </p:cNvPr>
          <p:cNvSpPr txBox="1"/>
          <p:nvPr/>
        </p:nvSpPr>
        <p:spPr>
          <a:xfrm>
            <a:off x="8377217" y="7133244"/>
            <a:ext cx="2459408" cy="431959"/>
          </a:xfrm>
          <a:prstGeom prst="rect">
            <a:avLst/>
          </a:prstGeom>
        </p:spPr>
        <p:txBody>
          <a:bodyPr lIns="0" tIns="0" rIns="0" bIns="0" rtlCol="0" anchor="t">
            <a:spAutoFit/>
          </a:bodyPr>
          <a:lstStyle/>
          <a:p>
            <a:pPr algn="ctr">
              <a:lnSpc>
                <a:spcPts val="3640"/>
              </a:lnSpc>
            </a:pPr>
            <a:r>
              <a:rPr lang="en-US" sz="2600" i="1">
                <a:solidFill>
                  <a:srgbClr val="000000"/>
                </a:solidFill>
                <a:latin typeface="Muli"/>
                <a:ea typeface="Muli"/>
                <a:cs typeface="Muli"/>
                <a:sym typeface="Muli"/>
              </a:rPr>
              <a:t>"danh sách"</a:t>
            </a:r>
          </a:p>
        </p:txBody>
      </p:sp>
      <p:sp>
        <p:nvSpPr>
          <p:cNvPr id="38" name="TextBox 28">
            <a:extLst>
              <a:ext uri="{FF2B5EF4-FFF2-40B4-BE49-F238E27FC236}">
                <a16:creationId xmlns:a16="http://schemas.microsoft.com/office/drawing/2014/main" id="{DA935D5A-0B34-0B8E-46E1-2ED1752B2B9F}"/>
              </a:ext>
            </a:extLst>
          </p:cNvPr>
          <p:cNvSpPr txBox="1"/>
          <p:nvPr/>
        </p:nvSpPr>
        <p:spPr>
          <a:xfrm>
            <a:off x="5791200" y="8420548"/>
            <a:ext cx="11810999" cy="1216936"/>
          </a:xfrm>
          <a:prstGeom prst="rect">
            <a:avLst/>
          </a:prstGeom>
        </p:spPr>
        <p:txBody>
          <a:bodyPr wrap="square" lIns="0" tIns="0" rIns="0" bIns="0" rtlCol="0" anchor="t">
            <a:spAutoFit/>
          </a:bodyPr>
          <a:lstStyle/>
          <a:p>
            <a:pPr algn="ctr">
              <a:lnSpc>
                <a:spcPct val="150000"/>
              </a:lnSpc>
            </a:pPr>
            <a:r>
              <a:rPr lang="vi-VN" sz="2800" b="1">
                <a:solidFill>
                  <a:srgbClr val="000000"/>
                </a:solidFill>
                <a:latin typeface="Muli Extra-Light"/>
                <a:ea typeface="Muli Extra-Light"/>
                <a:cs typeface="Muli Extra-Light"/>
                <a:sym typeface="Muli Extra-Light"/>
              </a:rPr>
              <a:t>"To-do list" được sử dụng rộng rãi để giúp mọi người tổ chức và theo dõi công việc cần làm, từ đó nâng cao hiệu quả làm việc và quản lý thời gian. </a:t>
            </a:r>
            <a:endParaRPr lang="en-US" sz="2800" b="1">
              <a:solidFill>
                <a:srgbClr val="000000"/>
              </a:solidFill>
              <a:latin typeface="Muli Extra-Light"/>
              <a:ea typeface="Muli Extra-Light"/>
              <a:cs typeface="Muli Extra-Light"/>
              <a:sym typeface="Muli Extra-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0E4CB-524B-64E6-E941-2AA99C889D7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354E167B-43D0-5775-3CAC-0D3C485754EA}"/>
              </a:ext>
            </a:extLst>
          </p:cNvPr>
          <p:cNvSpPr txBox="1"/>
          <p:nvPr/>
        </p:nvSpPr>
        <p:spPr>
          <a:xfrm>
            <a:off x="1663081" y="647700"/>
            <a:ext cx="6953997" cy="2045303"/>
          </a:xfrm>
          <a:prstGeom prst="rect">
            <a:avLst/>
          </a:prstGeom>
        </p:spPr>
        <p:txBody>
          <a:bodyPr lIns="0" tIns="0" rIns="0" bIns="0" rtlCol="0" anchor="t">
            <a:spAutoFit/>
          </a:bodyPr>
          <a:lstStyle/>
          <a:p>
            <a:pPr algn="ctr">
              <a:lnSpc>
                <a:spcPts val="8159"/>
              </a:lnSpc>
            </a:pPr>
            <a:r>
              <a:rPr lang="en-US" sz="6799" b="1">
                <a:solidFill>
                  <a:srgbClr val="F884FA"/>
                </a:solidFill>
                <a:latin typeface="Inter Bold"/>
                <a:ea typeface="Inter Bold"/>
                <a:cs typeface="Inter Bold"/>
                <a:sym typeface="Inter Bold"/>
              </a:rPr>
              <a:t>Chức năng chính</a:t>
            </a:r>
          </a:p>
        </p:txBody>
      </p:sp>
      <p:grpSp>
        <p:nvGrpSpPr>
          <p:cNvPr id="46" name="Group 45">
            <a:extLst>
              <a:ext uri="{FF2B5EF4-FFF2-40B4-BE49-F238E27FC236}">
                <a16:creationId xmlns:a16="http://schemas.microsoft.com/office/drawing/2014/main" id="{51D39602-3CF5-A4C9-42A7-47AC1D597767}"/>
              </a:ext>
            </a:extLst>
          </p:cNvPr>
          <p:cNvGrpSpPr/>
          <p:nvPr/>
        </p:nvGrpSpPr>
        <p:grpSpPr>
          <a:xfrm>
            <a:off x="1324500" y="3543300"/>
            <a:ext cx="7317572" cy="1322106"/>
            <a:chOff x="1663081" y="3995907"/>
            <a:chExt cx="6953997" cy="966761"/>
          </a:xfrm>
          <a:gradFill flip="none" rotWithShape="1">
            <a:gsLst>
              <a:gs pos="0">
                <a:schemeClr val="accent4">
                  <a:lumMod val="60000"/>
                  <a:lumOff val="40000"/>
                </a:schemeClr>
              </a:gs>
              <a:gs pos="50000">
                <a:schemeClr val="accent4">
                  <a:lumMod val="20000"/>
                  <a:lumOff val="80000"/>
                  <a:shade val="67500"/>
                  <a:satMod val="115000"/>
                </a:schemeClr>
              </a:gs>
              <a:gs pos="100000">
                <a:schemeClr val="accent4">
                  <a:lumMod val="20000"/>
                  <a:lumOff val="80000"/>
                  <a:shade val="100000"/>
                  <a:satMod val="115000"/>
                </a:schemeClr>
              </a:gs>
            </a:gsLst>
            <a:lin ang="16200000" scaled="1"/>
            <a:tileRect/>
          </a:gradFill>
        </p:grpSpPr>
        <p:grpSp>
          <p:nvGrpSpPr>
            <p:cNvPr id="3" name="Group 3">
              <a:extLst>
                <a:ext uri="{FF2B5EF4-FFF2-40B4-BE49-F238E27FC236}">
                  <a16:creationId xmlns:a16="http://schemas.microsoft.com/office/drawing/2014/main" id="{B7AE9DF2-9386-A029-3C6A-A04BC33F2600}"/>
                </a:ext>
              </a:extLst>
            </p:cNvPr>
            <p:cNvGrpSpPr/>
            <p:nvPr/>
          </p:nvGrpSpPr>
          <p:grpSpPr>
            <a:xfrm>
              <a:off x="1663081" y="3995907"/>
              <a:ext cx="6953997" cy="966761"/>
              <a:chOff x="0" y="0"/>
              <a:chExt cx="4750317" cy="660400"/>
            </a:xfrm>
            <a:grpFill/>
          </p:grpSpPr>
          <p:sp>
            <p:nvSpPr>
              <p:cNvPr id="4" name="Freeform 4">
                <a:extLst>
                  <a:ext uri="{FF2B5EF4-FFF2-40B4-BE49-F238E27FC236}">
                    <a16:creationId xmlns:a16="http://schemas.microsoft.com/office/drawing/2014/main" id="{E7795CB7-6215-8560-6134-485F9B253634}"/>
                  </a:ext>
                </a:extLst>
              </p:cNvPr>
              <p:cNvSpPr/>
              <p:nvPr/>
            </p:nvSpPr>
            <p:spPr>
              <a:xfrm>
                <a:off x="0" y="0"/>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5" name="TextBox 5">
              <a:extLst>
                <a:ext uri="{FF2B5EF4-FFF2-40B4-BE49-F238E27FC236}">
                  <a16:creationId xmlns:a16="http://schemas.microsoft.com/office/drawing/2014/main" id="{40BFC7A1-9C38-8853-3177-0889979D8BEB}"/>
                </a:ext>
              </a:extLst>
            </p:cNvPr>
            <p:cNvSpPr txBox="1"/>
            <p:nvPr/>
          </p:nvSpPr>
          <p:spPr>
            <a:xfrm>
              <a:off x="2001615" y="4239892"/>
              <a:ext cx="6276929" cy="301292"/>
            </a:xfrm>
            <a:prstGeom prst="rect">
              <a:avLst/>
            </a:prstGeom>
            <a:grpFill/>
          </p:spPr>
          <p:txBody>
            <a:bodyPr lIns="0" tIns="0" rIns="0" bIns="0" rtlCol="0" anchor="t">
              <a:spAutoFit/>
            </a:bodyPr>
            <a:lstStyle/>
            <a:p>
              <a:pPr algn="ctr">
                <a:lnSpc>
                  <a:spcPts val="3500"/>
                </a:lnSpc>
              </a:pPr>
              <a:r>
                <a:rPr lang="en-US" sz="2500" b="1">
                  <a:solidFill>
                    <a:srgbClr val="000000"/>
                  </a:solidFill>
                  <a:latin typeface="Inter"/>
                  <a:ea typeface="Inter"/>
                  <a:cs typeface="Inter"/>
                  <a:sym typeface="Inter"/>
                </a:rPr>
                <a:t>Tạo công việc mới</a:t>
              </a:r>
            </a:p>
          </p:txBody>
        </p:sp>
      </p:grpSp>
      <p:grpSp>
        <p:nvGrpSpPr>
          <p:cNvPr id="51" name="Group 50">
            <a:extLst>
              <a:ext uri="{FF2B5EF4-FFF2-40B4-BE49-F238E27FC236}">
                <a16:creationId xmlns:a16="http://schemas.microsoft.com/office/drawing/2014/main" id="{FEF76BEC-F827-0B61-7917-FAFCBF660521}"/>
              </a:ext>
            </a:extLst>
          </p:cNvPr>
          <p:cNvGrpSpPr/>
          <p:nvPr/>
        </p:nvGrpSpPr>
        <p:grpSpPr>
          <a:xfrm>
            <a:off x="1277402" y="5075149"/>
            <a:ext cx="7317572" cy="1322106"/>
            <a:chOff x="1663081" y="5333205"/>
            <a:chExt cx="6953997" cy="966761"/>
          </a:xfrm>
          <a:gradFill flip="none" rotWithShape="1">
            <a:gsLst>
              <a:gs pos="0">
                <a:schemeClr val="accent4">
                  <a:lumMod val="60000"/>
                  <a:lumOff val="40000"/>
                </a:schemeClr>
              </a:gs>
              <a:gs pos="50000">
                <a:schemeClr val="accent4">
                  <a:lumMod val="20000"/>
                  <a:lumOff val="80000"/>
                  <a:shade val="67500"/>
                  <a:satMod val="115000"/>
                </a:schemeClr>
              </a:gs>
              <a:gs pos="100000">
                <a:schemeClr val="accent4">
                  <a:lumMod val="20000"/>
                  <a:lumOff val="80000"/>
                  <a:shade val="100000"/>
                  <a:satMod val="115000"/>
                </a:schemeClr>
              </a:gs>
            </a:gsLst>
            <a:lin ang="16200000" scaled="1"/>
            <a:tileRect/>
          </a:gradFill>
        </p:grpSpPr>
        <p:grpSp>
          <p:nvGrpSpPr>
            <p:cNvPr id="6" name="Group 6">
              <a:extLst>
                <a:ext uri="{FF2B5EF4-FFF2-40B4-BE49-F238E27FC236}">
                  <a16:creationId xmlns:a16="http://schemas.microsoft.com/office/drawing/2014/main" id="{FC9B33C2-375E-A844-5A3C-0A01DDA117B1}"/>
                </a:ext>
              </a:extLst>
            </p:cNvPr>
            <p:cNvGrpSpPr/>
            <p:nvPr/>
          </p:nvGrpSpPr>
          <p:grpSpPr>
            <a:xfrm>
              <a:off x="1663081" y="5333205"/>
              <a:ext cx="6953997" cy="966761"/>
              <a:chOff x="0" y="0"/>
              <a:chExt cx="4750317" cy="660400"/>
            </a:xfrm>
            <a:grpFill/>
          </p:grpSpPr>
          <p:sp>
            <p:nvSpPr>
              <p:cNvPr id="7" name="Freeform 7">
                <a:extLst>
                  <a:ext uri="{FF2B5EF4-FFF2-40B4-BE49-F238E27FC236}">
                    <a16:creationId xmlns:a16="http://schemas.microsoft.com/office/drawing/2014/main" id="{DA4DC7F8-B4C7-54A8-57A8-B69EBABADEBF}"/>
                  </a:ext>
                </a:extLst>
              </p:cNvPr>
              <p:cNvSpPr/>
              <p:nvPr/>
            </p:nvSpPr>
            <p:spPr>
              <a:xfrm>
                <a:off x="0" y="0"/>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8" name="TextBox 8">
              <a:extLst>
                <a:ext uri="{FF2B5EF4-FFF2-40B4-BE49-F238E27FC236}">
                  <a16:creationId xmlns:a16="http://schemas.microsoft.com/office/drawing/2014/main" id="{A305FA57-019F-7210-7556-14B23F5FEDAB}"/>
                </a:ext>
              </a:extLst>
            </p:cNvPr>
            <p:cNvSpPr txBox="1"/>
            <p:nvPr/>
          </p:nvSpPr>
          <p:spPr>
            <a:xfrm>
              <a:off x="2001615" y="5577190"/>
              <a:ext cx="6276929" cy="301292"/>
            </a:xfrm>
            <a:prstGeom prst="rect">
              <a:avLst/>
            </a:prstGeom>
            <a:grpFill/>
          </p:spPr>
          <p:txBody>
            <a:bodyPr lIns="0" tIns="0" rIns="0" bIns="0" rtlCol="0" anchor="t">
              <a:spAutoFit/>
            </a:bodyPr>
            <a:lstStyle/>
            <a:p>
              <a:pPr algn="ctr">
                <a:lnSpc>
                  <a:spcPts val="3500"/>
                </a:lnSpc>
              </a:pPr>
              <a:r>
                <a:rPr lang="en-US" sz="2500" b="1">
                  <a:solidFill>
                    <a:srgbClr val="000000"/>
                  </a:solidFill>
                  <a:latin typeface="Inter"/>
                  <a:ea typeface="Inter"/>
                  <a:cs typeface="Inter"/>
                  <a:sym typeface="Inter"/>
                </a:rPr>
                <a:t>Chỉnh sửa nội dung công việc</a:t>
              </a:r>
            </a:p>
          </p:txBody>
        </p:sp>
      </p:grpSp>
      <p:grpSp>
        <p:nvGrpSpPr>
          <p:cNvPr id="50" name="Group 49">
            <a:extLst>
              <a:ext uri="{FF2B5EF4-FFF2-40B4-BE49-F238E27FC236}">
                <a16:creationId xmlns:a16="http://schemas.microsoft.com/office/drawing/2014/main" id="{C0C92888-AE5F-E99B-E876-AB55EBC42EDF}"/>
              </a:ext>
            </a:extLst>
          </p:cNvPr>
          <p:cNvGrpSpPr/>
          <p:nvPr/>
        </p:nvGrpSpPr>
        <p:grpSpPr>
          <a:xfrm>
            <a:off x="1321918" y="6690210"/>
            <a:ext cx="7317572" cy="1322106"/>
            <a:chOff x="1663081" y="6670503"/>
            <a:chExt cx="6953997" cy="966761"/>
          </a:xfrm>
          <a:gradFill flip="none" rotWithShape="1">
            <a:gsLst>
              <a:gs pos="0">
                <a:schemeClr val="accent4">
                  <a:lumMod val="60000"/>
                  <a:lumOff val="40000"/>
                </a:schemeClr>
              </a:gs>
              <a:gs pos="50000">
                <a:schemeClr val="accent4">
                  <a:lumMod val="20000"/>
                  <a:lumOff val="80000"/>
                  <a:shade val="67500"/>
                  <a:satMod val="115000"/>
                </a:schemeClr>
              </a:gs>
              <a:gs pos="100000">
                <a:schemeClr val="accent4">
                  <a:lumMod val="20000"/>
                  <a:lumOff val="80000"/>
                  <a:shade val="100000"/>
                  <a:satMod val="115000"/>
                </a:schemeClr>
              </a:gs>
            </a:gsLst>
            <a:lin ang="16200000" scaled="1"/>
            <a:tileRect/>
          </a:gradFill>
        </p:grpSpPr>
        <p:grpSp>
          <p:nvGrpSpPr>
            <p:cNvPr id="9" name="Group 9">
              <a:extLst>
                <a:ext uri="{FF2B5EF4-FFF2-40B4-BE49-F238E27FC236}">
                  <a16:creationId xmlns:a16="http://schemas.microsoft.com/office/drawing/2014/main" id="{EF45237E-3794-B6BB-B9B5-BE744C97FCFA}"/>
                </a:ext>
              </a:extLst>
            </p:cNvPr>
            <p:cNvGrpSpPr/>
            <p:nvPr/>
          </p:nvGrpSpPr>
          <p:grpSpPr>
            <a:xfrm>
              <a:off x="1663081" y="6670503"/>
              <a:ext cx="6953997" cy="966761"/>
              <a:chOff x="0" y="0"/>
              <a:chExt cx="4750317" cy="660400"/>
            </a:xfrm>
            <a:grpFill/>
          </p:grpSpPr>
          <p:sp>
            <p:nvSpPr>
              <p:cNvPr id="10" name="Freeform 10">
                <a:extLst>
                  <a:ext uri="{FF2B5EF4-FFF2-40B4-BE49-F238E27FC236}">
                    <a16:creationId xmlns:a16="http://schemas.microsoft.com/office/drawing/2014/main" id="{4DFDC4EF-9918-2F95-D3E0-0BA46AAB43A0}"/>
                  </a:ext>
                </a:extLst>
              </p:cNvPr>
              <p:cNvSpPr/>
              <p:nvPr/>
            </p:nvSpPr>
            <p:spPr>
              <a:xfrm>
                <a:off x="0" y="0"/>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11" name="TextBox 11">
              <a:extLst>
                <a:ext uri="{FF2B5EF4-FFF2-40B4-BE49-F238E27FC236}">
                  <a16:creationId xmlns:a16="http://schemas.microsoft.com/office/drawing/2014/main" id="{77751172-E572-64D5-3D3D-15F99823969C}"/>
                </a:ext>
              </a:extLst>
            </p:cNvPr>
            <p:cNvSpPr txBox="1"/>
            <p:nvPr/>
          </p:nvSpPr>
          <p:spPr>
            <a:xfrm>
              <a:off x="1959310" y="6969917"/>
              <a:ext cx="6276929" cy="301292"/>
            </a:xfrm>
            <a:prstGeom prst="rect">
              <a:avLst/>
            </a:prstGeom>
            <a:grpFill/>
          </p:spPr>
          <p:txBody>
            <a:bodyPr lIns="0" tIns="0" rIns="0" bIns="0" rtlCol="0" anchor="ctr">
              <a:spAutoFit/>
            </a:bodyPr>
            <a:lstStyle/>
            <a:p>
              <a:pPr algn="ctr">
                <a:lnSpc>
                  <a:spcPts val="3500"/>
                </a:lnSpc>
              </a:pPr>
              <a:r>
                <a:rPr lang="en-US" sz="2500" b="1">
                  <a:solidFill>
                    <a:srgbClr val="000000"/>
                  </a:solidFill>
                  <a:latin typeface="Inter"/>
                  <a:ea typeface="Inter"/>
                  <a:cs typeface="Inter"/>
                  <a:sym typeface="Inter"/>
                </a:rPr>
                <a:t>CRUD danh mục công việc</a:t>
              </a:r>
            </a:p>
          </p:txBody>
        </p:sp>
      </p:grpSp>
      <p:sp>
        <p:nvSpPr>
          <p:cNvPr id="12" name="TextBox 12">
            <a:extLst>
              <a:ext uri="{FF2B5EF4-FFF2-40B4-BE49-F238E27FC236}">
                <a16:creationId xmlns:a16="http://schemas.microsoft.com/office/drawing/2014/main" id="{C4E33CB1-3999-E6F1-B0FC-883A39CE6959}"/>
              </a:ext>
            </a:extLst>
          </p:cNvPr>
          <p:cNvSpPr txBox="1"/>
          <p:nvPr/>
        </p:nvSpPr>
        <p:spPr>
          <a:xfrm>
            <a:off x="9670922" y="647700"/>
            <a:ext cx="6953997" cy="2045303"/>
          </a:xfrm>
          <a:prstGeom prst="rect">
            <a:avLst/>
          </a:prstGeom>
        </p:spPr>
        <p:txBody>
          <a:bodyPr lIns="0" tIns="0" rIns="0" bIns="0" rtlCol="0" anchor="t">
            <a:spAutoFit/>
          </a:bodyPr>
          <a:lstStyle/>
          <a:p>
            <a:pPr algn="ctr">
              <a:lnSpc>
                <a:spcPts val="8159"/>
              </a:lnSpc>
            </a:pPr>
            <a:r>
              <a:rPr lang="en-US" sz="6799" b="1">
                <a:solidFill>
                  <a:srgbClr val="9976FF"/>
                </a:solidFill>
                <a:latin typeface="Inter Bold"/>
                <a:ea typeface="Inter Bold"/>
                <a:cs typeface="Inter Bold"/>
                <a:sym typeface="Inter Bold"/>
              </a:rPr>
              <a:t>Công nghệ sử dụng</a:t>
            </a:r>
          </a:p>
        </p:txBody>
      </p:sp>
      <p:grpSp>
        <p:nvGrpSpPr>
          <p:cNvPr id="47" name="Group 46">
            <a:extLst>
              <a:ext uri="{FF2B5EF4-FFF2-40B4-BE49-F238E27FC236}">
                <a16:creationId xmlns:a16="http://schemas.microsoft.com/office/drawing/2014/main" id="{236B57C6-527C-7D71-3B42-C4B77F8A1111}"/>
              </a:ext>
            </a:extLst>
          </p:cNvPr>
          <p:cNvGrpSpPr/>
          <p:nvPr/>
        </p:nvGrpSpPr>
        <p:grpSpPr>
          <a:xfrm>
            <a:off x="9952934" y="3542540"/>
            <a:ext cx="7317570" cy="1322105"/>
            <a:chOff x="9645362" y="3870104"/>
            <a:chExt cx="6953997" cy="96676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grpSpPr>
        <p:grpSp>
          <p:nvGrpSpPr>
            <p:cNvPr id="13" name="Group 13">
              <a:extLst>
                <a:ext uri="{FF2B5EF4-FFF2-40B4-BE49-F238E27FC236}">
                  <a16:creationId xmlns:a16="http://schemas.microsoft.com/office/drawing/2014/main" id="{A4E7EEDC-B55C-97A8-BBCA-77611C6A309A}"/>
                </a:ext>
              </a:extLst>
            </p:cNvPr>
            <p:cNvGrpSpPr/>
            <p:nvPr/>
          </p:nvGrpSpPr>
          <p:grpSpPr>
            <a:xfrm>
              <a:off x="9645362" y="3870104"/>
              <a:ext cx="6953997" cy="966761"/>
              <a:chOff x="-17460" y="-85937"/>
              <a:chExt cx="4750317" cy="660400"/>
            </a:xfrm>
            <a:grpFill/>
          </p:grpSpPr>
          <p:sp>
            <p:nvSpPr>
              <p:cNvPr id="14" name="Freeform 14">
                <a:extLst>
                  <a:ext uri="{FF2B5EF4-FFF2-40B4-BE49-F238E27FC236}">
                    <a16:creationId xmlns:a16="http://schemas.microsoft.com/office/drawing/2014/main" id="{1704934E-1997-14BD-74A6-C6287AF9C4AC}"/>
                  </a:ext>
                </a:extLst>
              </p:cNvPr>
              <p:cNvSpPr/>
              <p:nvPr/>
            </p:nvSpPr>
            <p:spPr>
              <a:xfrm>
                <a:off x="-17460" y="-85937"/>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15" name="TextBox 15">
              <a:extLst>
                <a:ext uri="{FF2B5EF4-FFF2-40B4-BE49-F238E27FC236}">
                  <a16:creationId xmlns:a16="http://schemas.microsoft.com/office/drawing/2014/main" id="{86075F12-9A57-1F9A-6B2A-D019EB67892E}"/>
                </a:ext>
              </a:extLst>
            </p:cNvPr>
            <p:cNvSpPr txBox="1"/>
            <p:nvPr/>
          </p:nvSpPr>
          <p:spPr>
            <a:xfrm>
              <a:off x="9983895" y="4028559"/>
              <a:ext cx="6276929" cy="629498"/>
            </a:xfrm>
            <a:prstGeom prst="rect">
              <a:avLst/>
            </a:prstGeom>
            <a:grpFill/>
          </p:spPr>
          <p:txBody>
            <a:bodyPr lIns="0" tIns="0" rIns="0" bIns="0" rtlCol="0" anchor="ctr">
              <a:spAutoFit/>
            </a:bodyPr>
            <a:lstStyle/>
            <a:p>
              <a:pPr algn="ctr">
                <a:lnSpc>
                  <a:spcPts val="3500"/>
                </a:lnSpc>
              </a:pPr>
              <a:r>
                <a:rPr lang="vi-VN" sz="2500" b="1">
                  <a:solidFill>
                    <a:srgbClr val="000000"/>
                  </a:solidFill>
                  <a:latin typeface="Inter"/>
                  <a:ea typeface="Inter"/>
                  <a:cs typeface="Inter"/>
                  <a:sym typeface="Inter"/>
                </a:rPr>
                <a:t>JSP (JavaServer Pages): giao diện người dùng</a:t>
              </a:r>
              <a:endParaRPr lang="en-US" sz="2500" b="1">
                <a:solidFill>
                  <a:srgbClr val="000000"/>
                </a:solidFill>
                <a:latin typeface="Inter"/>
                <a:ea typeface="Inter"/>
                <a:cs typeface="Inter"/>
                <a:sym typeface="Inter"/>
              </a:endParaRPr>
            </a:p>
          </p:txBody>
        </p:sp>
      </p:grpSp>
      <p:grpSp>
        <p:nvGrpSpPr>
          <p:cNvPr id="48" name="Group 47">
            <a:extLst>
              <a:ext uri="{FF2B5EF4-FFF2-40B4-BE49-F238E27FC236}">
                <a16:creationId xmlns:a16="http://schemas.microsoft.com/office/drawing/2014/main" id="{D357707D-3372-D275-B527-4975176A7971}"/>
              </a:ext>
            </a:extLst>
          </p:cNvPr>
          <p:cNvGrpSpPr/>
          <p:nvPr/>
        </p:nvGrpSpPr>
        <p:grpSpPr>
          <a:xfrm>
            <a:off x="9979828" y="5075149"/>
            <a:ext cx="7317572" cy="1322106"/>
            <a:chOff x="9670922" y="5333205"/>
            <a:chExt cx="6953997" cy="96676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grpSpPr>
        <p:grpSp>
          <p:nvGrpSpPr>
            <p:cNvPr id="16" name="Group 16">
              <a:extLst>
                <a:ext uri="{FF2B5EF4-FFF2-40B4-BE49-F238E27FC236}">
                  <a16:creationId xmlns:a16="http://schemas.microsoft.com/office/drawing/2014/main" id="{E40715EB-69AE-2650-CA4A-AFAD53B7A5C7}"/>
                </a:ext>
              </a:extLst>
            </p:cNvPr>
            <p:cNvGrpSpPr/>
            <p:nvPr/>
          </p:nvGrpSpPr>
          <p:grpSpPr>
            <a:xfrm>
              <a:off x="9670922" y="5333205"/>
              <a:ext cx="6953997" cy="966761"/>
              <a:chOff x="0" y="0"/>
              <a:chExt cx="4750317" cy="660400"/>
            </a:xfrm>
            <a:grpFill/>
          </p:grpSpPr>
          <p:sp>
            <p:nvSpPr>
              <p:cNvPr id="17" name="Freeform 17">
                <a:extLst>
                  <a:ext uri="{FF2B5EF4-FFF2-40B4-BE49-F238E27FC236}">
                    <a16:creationId xmlns:a16="http://schemas.microsoft.com/office/drawing/2014/main" id="{B4441E59-EDB3-84AB-E1EF-4F9204BAFE71}"/>
                  </a:ext>
                </a:extLst>
              </p:cNvPr>
              <p:cNvSpPr/>
              <p:nvPr/>
            </p:nvSpPr>
            <p:spPr>
              <a:xfrm>
                <a:off x="0" y="0"/>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18" name="TextBox 18">
              <a:extLst>
                <a:ext uri="{FF2B5EF4-FFF2-40B4-BE49-F238E27FC236}">
                  <a16:creationId xmlns:a16="http://schemas.microsoft.com/office/drawing/2014/main" id="{9DC2BA45-07AC-2F5E-6536-BCF6A4077A48}"/>
                </a:ext>
              </a:extLst>
            </p:cNvPr>
            <p:cNvSpPr txBox="1"/>
            <p:nvPr/>
          </p:nvSpPr>
          <p:spPr>
            <a:xfrm>
              <a:off x="10009456" y="5632562"/>
              <a:ext cx="6276929" cy="301292"/>
            </a:xfrm>
            <a:prstGeom prst="rect">
              <a:avLst/>
            </a:prstGeom>
            <a:grpFill/>
          </p:spPr>
          <p:txBody>
            <a:bodyPr lIns="0" tIns="0" rIns="0" bIns="0" rtlCol="0" anchor="ctr">
              <a:spAutoFit/>
            </a:bodyPr>
            <a:lstStyle/>
            <a:p>
              <a:pPr algn="ctr">
                <a:lnSpc>
                  <a:spcPts val="3500"/>
                </a:lnSpc>
              </a:pPr>
              <a:r>
                <a:rPr lang="en-US" sz="2500" b="1">
                  <a:solidFill>
                    <a:srgbClr val="000000"/>
                  </a:solidFill>
                  <a:latin typeface="Inter"/>
                  <a:ea typeface="Inter"/>
                  <a:cs typeface="Inter"/>
                  <a:sym typeface="Inter"/>
                </a:rPr>
                <a:t>Servlet: xử lý logic nghiệp vụ</a:t>
              </a:r>
            </a:p>
          </p:txBody>
        </p:sp>
      </p:grpSp>
      <p:grpSp>
        <p:nvGrpSpPr>
          <p:cNvPr id="49" name="Group 48">
            <a:extLst>
              <a:ext uri="{FF2B5EF4-FFF2-40B4-BE49-F238E27FC236}">
                <a16:creationId xmlns:a16="http://schemas.microsoft.com/office/drawing/2014/main" id="{B9451FD2-2452-96E3-538C-ABF617B8596F}"/>
              </a:ext>
            </a:extLst>
          </p:cNvPr>
          <p:cNvGrpSpPr/>
          <p:nvPr/>
        </p:nvGrpSpPr>
        <p:grpSpPr>
          <a:xfrm>
            <a:off x="9979830" y="6670500"/>
            <a:ext cx="7317570" cy="1322105"/>
            <a:chOff x="9670922" y="6670503"/>
            <a:chExt cx="6953997" cy="96676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grpSpPr>
        <p:grpSp>
          <p:nvGrpSpPr>
            <p:cNvPr id="19" name="Group 19">
              <a:extLst>
                <a:ext uri="{FF2B5EF4-FFF2-40B4-BE49-F238E27FC236}">
                  <a16:creationId xmlns:a16="http://schemas.microsoft.com/office/drawing/2014/main" id="{734BC8BE-8391-88ED-32AE-2DF5FD58BBD1}"/>
                </a:ext>
              </a:extLst>
            </p:cNvPr>
            <p:cNvGrpSpPr/>
            <p:nvPr/>
          </p:nvGrpSpPr>
          <p:grpSpPr>
            <a:xfrm>
              <a:off x="9670922" y="6670503"/>
              <a:ext cx="6953997" cy="966761"/>
              <a:chOff x="0" y="0"/>
              <a:chExt cx="4750317" cy="660400"/>
            </a:xfrm>
            <a:grpFill/>
          </p:grpSpPr>
          <p:sp>
            <p:nvSpPr>
              <p:cNvPr id="20" name="Freeform 20">
                <a:extLst>
                  <a:ext uri="{FF2B5EF4-FFF2-40B4-BE49-F238E27FC236}">
                    <a16:creationId xmlns:a16="http://schemas.microsoft.com/office/drawing/2014/main" id="{84B76F5A-A358-0B6B-0CBD-9CF7BA6B419F}"/>
                  </a:ext>
                </a:extLst>
              </p:cNvPr>
              <p:cNvSpPr/>
              <p:nvPr/>
            </p:nvSpPr>
            <p:spPr>
              <a:xfrm>
                <a:off x="0" y="0"/>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21" name="TextBox 21">
              <a:extLst>
                <a:ext uri="{FF2B5EF4-FFF2-40B4-BE49-F238E27FC236}">
                  <a16:creationId xmlns:a16="http://schemas.microsoft.com/office/drawing/2014/main" id="{425C8477-CCE3-46AD-FF93-0A47DB87BDB7}"/>
                </a:ext>
              </a:extLst>
            </p:cNvPr>
            <p:cNvSpPr txBox="1"/>
            <p:nvPr/>
          </p:nvSpPr>
          <p:spPr>
            <a:xfrm>
              <a:off x="10009453" y="6984330"/>
              <a:ext cx="6276929" cy="301292"/>
            </a:xfrm>
            <a:prstGeom prst="rect">
              <a:avLst/>
            </a:prstGeom>
            <a:grpFill/>
          </p:spPr>
          <p:txBody>
            <a:bodyPr lIns="0" tIns="0" rIns="0" bIns="0" rtlCol="0" anchor="ctr">
              <a:spAutoFit/>
            </a:bodyPr>
            <a:lstStyle/>
            <a:p>
              <a:pPr algn="ctr">
                <a:lnSpc>
                  <a:spcPts val="3500"/>
                </a:lnSpc>
              </a:pPr>
              <a:r>
                <a:rPr lang="vi-VN" sz="2500" b="1">
                  <a:solidFill>
                    <a:srgbClr val="000000"/>
                  </a:solidFill>
                  <a:latin typeface="Inter"/>
                  <a:ea typeface="Inter"/>
                  <a:cs typeface="Inter"/>
                  <a:sym typeface="Inter"/>
                </a:rPr>
                <a:t>JDBC: kết nối và thao tác với cơ sở dữ liệu</a:t>
              </a:r>
              <a:endParaRPr lang="en-US" sz="2500" b="1">
                <a:solidFill>
                  <a:srgbClr val="000000"/>
                </a:solidFill>
                <a:latin typeface="Inter"/>
                <a:ea typeface="Inter"/>
                <a:cs typeface="Inter"/>
                <a:sym typeface="Inter"/>
              </a:endParaRPr>
            </a:p>
          </p:txBody>
        </p:sp>
      </p:grpSp>
      <p:grpSp>
        <p:nvGrpSpPr>
          <p:cNvPr id="40" name="Group 39">
            <a:extLst>
              <a:ext uri="{FF2B5EF4-FFF2-40B4-BE49-F238E27FC236}">
                <a16:creationId xmlns:a16="http://schemas.microsoft.com/office/drawing/2014/main" id="{8150E647-00D3-75BA-CC37-DD2847D8E62F}"/>
              </a:ext>
            </a:extLst>
          </p:cNvPr>
          <p:cNvGrpSpPr/>
          <p:nvPr/>
        </p:nvGrpSpPr>
        <p:grpSpPr>
          <a:xfrm>
            <a:off x="1416115" y="8305271"/>
            <a:ext cx="7223375" cy="1322104"/>
            <a:chOff x="1428665" y="9080583"/>
            <a:chExt cx="6953997" cy="1138238"/>
          </a:xfrm>
          <a:gradFill flip="none" rotWithShape="1">
            <a:gsLst>
              <a:gs pos="0">
                <a:schemeClr val="accent4">
                  <a:lumMod val="60000"/>
                  <a:lumOff val="40000"/>
                </a:schemeClr>
              </a:gs>
              <a:gs pos="50000">
                <a:schemeClr val="accent4">
                  <a:lumMod val="20000"/>
                  <a:lumOff val="80000"/>
                  <a:shade val="67500"/>
                  <a:satMod val="115000"/>
                </a:schemeClr>
              </a:gs>
              <a:gs pos="100000">
                <a:schemeClr val="accent4">
                  <a:lumMod val="20000"/>
                  <a:lumOff val="80000"/>
                  <a:shade val="100000"/>
                  <a:satMod val="115000"/>
                </a:schemeClr>
              </a:gs>
            </a:gsLst>
            <a:lin ang="16200000" scaled="1"/>
            <a:tileRect/>
          </a:gradFill>
        </p:grpSpPr>
        <p:grpSp>
          <p:nvGrpSpPr>
            <p:cNvPr id="37" name="Group 3">
              <a:extLst>
                <a:ext uri="{FF2B5EF4-FFF2-40B4-BE49-F238E27FC236}">
                  <a16:creationId xmlns:a16="http://schemas.microsoft.com/office/drawing/2014/main" id="{B8281D8A-995B-AADF-380A-3719D5823495}"/>
                </a:ext>
              </a:extLst>
            </p:cNvPr>
            <p:cNvGrpSpPr/>
            <p:nvPr/>
          </p:nvGrpSpPr>
          <p:grpSpPr>
            <a:xfrm>
              <a:off x="1428665" y="9080583"/>
              <a:ext cx="6953997" cy="1138238"/>
              <a:chOff x="-221282" y="165933"/>
              <a:chExt cx="4750317" cy="777537"/>
            </a:xfrm>
            <a:grpFill/>
          </p:grpSpPr>
          <p:sp>
            <p:nvSpPr>
              <p:cNvPr id="38" name="Freeform 4">
                <a:extLst>
                  <a:ext uri="{FF2B5EF4-FFF2-40B4-BE49-F238E27FC236}">
                    <a16:creationId xmlns:a16="http://schemas.microsoft.com/office/drawing/2014/main" id="{6008BDBA-0221-E118-652F-6A65C05A71BA}"/>
                  </a:ext>
                </a:extLst>
              </p:cNvPr>
              <p:cNvSpPr/>
              <p:nvPr/>
            </p:nvSpPr>
            <p:spPr>
              <a:xfrm>
                <a:off x="-221282" y="165933"/>
                <a:ext cx="4750317" cy="777537"/>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txBody>
              <a:bodyPr/>
              <a:lstStyle/>
              <a:p>
                <a:endParaRPr lang="en-US"/>
              </a:p>
            </p:txBody>
          </p:sp>
        </p:grpSp>
        <p:sp>
          <p:nvSpPr>
            <p:cNvPr id="39" name="TextBox 11">
              <a:extLst>
                <a:ext uri="{FF2B5EF4-FFF2-40B4-BE49-F238E27FC236}">
                  <a16:creationId xmlns:a16="http://schemas.microsoft.com/office/drawing/2014/main" id="{A312A3FA-8E6B-B789-F730-8BBA63A4A12D}"/>
                </a:ext>
              </a:extLst>
            </p:cNvPr>
            <p:cNvSpPr txBox="1"/>
            <p:nvPr/>
          </p:nvSpPr>
          <p:spPr>
            <a:xfrm>
              <a:off x="1875288" y="9102620"/>
              <a:ext cx="6276929" cy="741154"/>
            </a:xfrm>
            <a:prstGeom prst="rect">
              <a:avLst/>
            </a:prstGeom>
            <a:grpFill/>
          </p:spPr>
          <p:txBody>
            <a:bodyPr lIns="0" tIns="0" rIns="0" bIns="0" rtlCol="0" anchor="ctr">
              <a:spAutoFit/>
            </a:bodyPr>
            <a:lstStyle/>
            <a:p>
              <a:pPr algn="ctr">
                <a:lnSpc>
                  <a:spcPts val="3500"/>
                </a:lnSpc>
              </a:pPr>
              <a:r>
                <a:rPr lang="vi-VN" sz="2500" b="1">
                  <a:solidFill>
                    <a:srgbClr val="000000"/>
                  </a:solidFill>
                  <a:latin typeface="Inter"/>
                  <a:ea typeface="Inter"/>
                  <a:cs typeface="Inter"/>
                  <a:sym typeface="Inter"/>
                </a:rPr>
                <a:t>Đánh dấu trạng thái hoàn thành hoặc chưa hoàn thành</a:t>
              </a:r>
              <a:endParaRPr lang="en-US" sz="2500" b="1">
                <a:solidFill>
                  <a:srgbClr val="000000"/>
                </a:solidFill>
                <a:latin typeface="Inter"/>
                <a:ea typeface="Inter"/>
                <a:cs typeface="Inter"/>
                <a:sym typeface="Inter"/>
              </a:endParaRPr>
            </a:p>
          </p:txBody>
        </p:sp>
      </p:grpSp>
      <p:grpSp>
        <p:nvGrpSpPr>
          <p:cNvPr id="42" name="Group 41">
            <a:extLst>
              <a:ext uri="{FF2B5EF4-FFF2-40B4-BE49-F238E27FC236}">
                <a16:creationId xmlns:a16="http://schemas.microsoft.com/office/drawing/2014/main" id="{F0933FB4-5A8A-97A4-4A77-C0DDF72E45F8}"/>
              </a:ext>
            </a:extLst>
          </p:cNvPr>
          <p:cNvGrpSpPr/>
          <p:nvPr/>
        </p:nvGrpSpPr>
        <p:grpSpPr>
          <a:xfrm>
            <a:off x="9979828" y="8301178"/>
            <a:ext cx="7317572" cy="1322106"/>
            <a:chOff x="1752597" y="8828437"/>
            <a:chExt cx="6953997" cy="966761"/>
          </a:xfr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16200000" scaled="1"/>
            <a:tileRect/>
          </a:gradFill>
        </p:grpSpPr>
        <p:grpSp>
          <p:nvGrpSpPr>
            <p:cNvPr id="43" name="Group 3">
              <a:extLst>
                <a:ext uri="{FF2B5EF4-FFF2-40B4-BE49-F238E27FC236}">
                  <a16:creationId xmlns:a16="http://schemas.microsoft.com/office/drawing/2014/main" id="{4C323D41-7221-FCFF-F128-315EFCED266B}"/>
                </a:ext>
              </a:extLst>
            </p:cNvPr>
            <p:cNvGrpSpPr/>
            <p:nvPr/>
          </p:nvGrpSpPr>
          <p:grpSpPr>
            <a:xfrm>
              <a:off x="1752597" y="8828437"/>
              <a:ext cx="6953997" cy="966761"/>
              <a:chOff x="-3" y="-6309"/>
              <a:chExt cx="4750317" cy="660400"/>
            </a:xfrm>
            <a:grpFill/>
          </p:grpSpPr>
          <p:sp>
            <p:nvSpPr>
              <p:cNvPr id="45" name="Freeform 4">
                <a:extLst>
                  <a:ext uri="{FF2B5EF4-FFF2-40B4-BE49-F238E27FC236}">
                    <a16:creationId xmlns:a16="http://schemas.microsoft.com/office/drawing/2014/main" id="{B19CD4B5-0F85-2614-AAC9-72A780C3E02C}"/>
                  </a:ext>
                </a:extLst>
              </p:cNvPr>
              <p:cNvSpPr/>
              <p:nvPr/>
            </p:nvSpPr>
            <p:spPr>
              <a:xfrm>
                <a:off x="-3" y="-6309"/>
                <a:ext cx="4750317" cy="660400"/>
              </a:xfrm>
              <a:custGeom>
                <a:avLst/>
                <a:gdLst/>
                <a:ahLst/>
                <a:cxnLst/>
                <a:rect l="l" t="t" r="r" b="b"/>
                <a:pathLst>
                  <a:path w="4750317" h="660400">
                    <a:moveTo>
                      <a:pt x="4625857" y="660400"/>
                    </a:moveTo>
                    <a:lnTo>
                      <a:pt x="124460" y="660400"/>
                    </a:lnTo>
                    <a:cubicBezTo>
                      <a:pt x="55880" y="660400"/>
                      <a:pt x="0" y="604520"/>
                      <a:pt x="0" y="535940"/>
                    </a:cubicBezTo>
                    <a:lnTo>
                      <a:pt x="0" y="124460"/>
                    </a:lnTo>
                    <a:cubicBezTo>
                      <a:pt x="0" y="55880"/>
                      <a:pt x="55880" y="0"/>
                      <a:pt x="124460" y="0"/>
                    </a:cubicBezTo>
                    <a:lnTo>
                      <a:pt x="4625857" y="0"/>
                    </a:lnTo>
                    <a:cubicBezTo>
                      <a:pt x="4694437" y="0"/>
                      <a:pt x="4750317" y="55880"/>
                      <a:pt x="4750317" y="124460"/>
                    </a:cubicBezTo>
                    <a:lnTo>
                      <a:pt x="4750317" y="535940"/>
                    </a:lnTo>
                    <a:cubicBezTo>
                      <a:pt x="4750317" y="604520"/>
                      <a:pt x="4694437" y="660400"/>
                      <a:pt x="4625857" y="660400"/>
                    </a:cubicBezTo>
                    <a:close/>
                  </a:path>
                </a:pathLst>
              </a:custGeom>
              <a:grpFill/>
            </p:spPr>
          </p:sp>
        </p:grpSp>
        <p:sp>
          <p:nvSpPr>
            <p:cNvPr id="44" name="TextBox 11">
              <a:extLst>
                <a:ext uri="{FF2B5EF4-FFF2-40B4-BE49-F238E27FC236}">
                  <a16:creationId xmlns:a16="http://schemas.microsoft.com/office/drawing/2014/main" id="{88246720-CC55-CCCE-EF4E-FDE6D32729DD}"/>
                </a:ext>
              </a:extLst>
            </p:cNvPr>
            <p:cNvSpPr txBox="1"/>
            <p:nvPr/>
          </p:nvSpPr>
          <p:spPr>
            <a:xfrm>
              <a:off x="2091130" y="9161171"/>
              <a:ext cx="6276929" cy="301292"/>
            </a:xfrm>
            <a:prstGeom prst="rect">
              <a:avLst/>
            </a:prstGeom>
            <a:grpFill/>
          </p:spPr>
          <p:txBody>
            <a:bodyPr lIns="0" tIns="0" rIns="0" bIns="0" rtlCol="0" anchor="ctr">
              <a:spAutoFit/>
            </a:bodyPr>
            <a:lstStyle/>
            <a:p>
              <a:pPr algn="ctr">
                <a:lnSpc>
                  <a:spcPts val="3500"/>
                </a:lnSpc>
              </a:pPr>
              <a:r>
                <a:rPr lang="vi-VN" sz="2500" b="1">
                  <a:solidFill>
                    <a:srgbClr val="000000"/>
                  </a:solidFill>
                  <a:latin typeface="Inter"/>
                  <a:ea typeface="Inter"/>
                  <a:cs typeface="Inter"/>
                  <a:sym typeface="Inter"/>
                </a:rPr>
                <a:t>MySQL: lưu trữ dữ liệu công việc</a:t>
              </a:r>
              <a:endParaRPr lang="en-US" sz="2500" b="1">
                <a:solidFill>
                  <a:srgbClr val="000000"/>
                </a:solidFill>
                <a:latin typeface="Inter"/>
                <a:ea typeface="Inter"/>
                <a:cs typeface="Inter"/>
                <a:sym typeface="Inter"/>
              </a:endParaRPr>
            </a:p>
          </p:txBody>
        </p:sp>
      </p:grpSp>
    </p:spTree>
    <p:extLst>
      <p:ext uri="{BB962C8B-B14F-4D97-AF65-F5344CB8AC3E}">
        <p14:creationId xmlns:p14="http://schemas.microsoft.com/office/powerpoint/2010/main" val="2344466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5F67F26C-BA5B-A989-6309-490F4D8DEBD7}"/>
            </a:ext>
          </a:extLst>
        </p:cNvPr>
        <p:cNvGrpSpPr/>
        <p:nvPr/>
      </p:nvGrpSpPr>
      <p:grpSpPr>
        <a:xfrm>
          <a:off x="0" y="0"/>
          <a:ext cx="0" cy="0"/>
          <a:chOff x="0" y="0"/>
          <a:chExt cx="0" cy="0"/>
        </a:xfrm>
      </p:grpSpPr>
      <p:grpSp>
        <p:nvGrpSpPr>
          <p:cNvPr id="9" name="Group 2">
            <a:extLst>
              <a:ext uri="{FF2B5EF4-FFF2-40B4-BE49-F238E27FC236}">
                <a16:creationId xmlns:a16="http://schemas.microsoft.com/office/drawing/2014/main" id="{C8D3BCB3-4881-9A5F-DB9B-A2858B38346C}"/>
              </a:ext>
            </a:extLst>
          </p:cNvPr>
          <p:cNvGrpSpPr/>
          <p:nvPr/>
        </p:nvGrpSpPr>
        <p:grpSpPr>
          <a:xfrm>
            <a:off x="983673" y="647700"/>
            <a:ext cx="9912926" cy="7965232"/>
            <a:chOff x="-222647" y="0"/>
            <a:chExt cx="12692901" cy="5819539"/>
          </a:xfrm>
        </p:grpSpPr>
        <p:sp>
          <p:nvSpPr>
            <p:cNvPr id="10" name="TextBox 3">
              <a:extLst>
                <a:ext uri="{FF2B5EF4-FFF2-40B4-BE49-F238E27FC236}">
                  <a16:creationId xmlns:a16="http://schemas.microsoft.com/office/drawing/2014/main" id="{A9C24D5A-169D-DCF4-A3C6-B4A633C1EABC}"/>
                </a:ext>
              </a:extLst>
            </p:cNvPr>
            <p:cNvSpPr txBox="1"/>
            <p:nvPr/>
          </p:nvSpPr>
          <p:spPr>
            <a:xfrm>
              <a:off x="0" y="0"/>
              <a:ext cx="12470254" cy="2994581"/>
            </a:xfrm>
            <a:prstGeom prst="rect">
              <a:avLst/>
            </a:prstGeom>
          </p:spPr>
          <p:txBody>
            <a:bodyPr lIns="0" tIns="0" rIns="0" bIns="0" rtlCol="0" anchor="t">
              <a:spAutoFit/>
            </a:bodyPr>
            <a:lstStyle/>
            <a:p>
              <a:pPr algn="l">
                <a:lnSpc>
                  <a:spcPts val="8999"/>
                </a:lnSpc>
              </a:pPr>
              <a:r>
                <a:rPr lang="en-US" sz="7499" b="1">
                  <a:solidFill>
                    <a:srgbClr val="9976FF"/>
                  </a:solidFill>
                  <a:latin typeface="Inter Bold"/>
                  <a:ea typeface="Inter Bold"/>
                  <a:cs typeface="Inter Bold"/>
                  <a:sym typeface="Inter Bold"/>
                </a:rPr>
                <a:t>Kiến trúc hoạt động của ứng dụng</a:t>
              </a:r>
            </a:p>
          </p:txBody>
        </p:sp>
        <p:sp>
          <p:nvSpPr>
            <p:cNvPr id="11" name="TextBox 4">
              <a:extLst>
                <a:ext uri="{FF2B5EF4-FFF2-40B4-BE49-F238E27FC236}">
                  <a16:creationId xmlns:a16="http://schemas.microsoft.com/office/drawing/2014/main" id="{4E8FDCB4-3E03-9351-A82C-52667150080A}"/>
                </a:ext>
              </a:extLst>
            </p:cNvPr>
            <p:cNvSpPr txBox="1"/>
            <p:nvPr/>
          </p:nvSpPr>
          <p:spPr>
            <a:xfrm>
              <a:off x="-222647" y="2338269"/>
              <a:ext cx="10439935" cy="3481270"/>
            </a:xfrm>
            <a:prstGeom prst="rect">
              <a:avLst/>
            </a:prstGeom>
          </p:spPr>
          <p:txBody>
            <a:bodyPr wrap="square" lIns="0" tIns="0" rIns="0" bIns="0" rtlCol="0" anchor="t">
              <a:spAutoFit/>
            </a:bodyPr>
            <a:lstStyle/>
            <a:p>
              <a:pPr algn="l">
                <a:lnSpc>
                  <a:spcPct val="150000"/>
                </a:lnSpc>
              </a:pPr>
              <a:r>
                <a:rPr lang="vi-VN" sz="3200" b="1">
                  <a:solidFill>
                    <a:schemeClr val="tx2">
                      <a:lumMod val="60000"/>
                      <a:lumOff val="40000"/>
                    </a:schemeClr>
                  </a:solidFill>
                  <a:latin typeface="Inter"/>
                  <a:ea typeface="Inter"/>
                  <a:cs typeface="Inter"/>
                  <a:sym typeface="Inter"/>
                </a:rPr>
                <a:t>Mô hình MVC (Model - View - Controller)</a:t>
              </a:r>
              <a:endParaRPr lang="en-US" sz="3200" b="1">
                <a:solidFill>
                  <a:schemeClr val="tx2">
                    <a:lumMod val="60000"/>
                    <a:lumOff val="40000"/>
                  </a:schemeClr>
                </a:solidFill>
                <a:latin typeface="Inter"/>
                <a:ea typeface="Inter"/>
                <a:cs typeface="Inter"/>
                <a:sym typeface="Inter"/>
              </a:endParaRPr>
            </a:p>
            <a:p>
              <a:pPr marL="514350" indent="-514350" algn="l">
                <a:lnSpc>
                  <a:spcPct val="150000"/>
                </a:lnSpc>
                <a:buFont typeface="Wingdings" panose="05000000000000000000" pitchFamily="2" charset="2"/>
                <a:buChar char="q"/>
              </a:pPr>
              <a:r>
                <a:rPr lang="vi-VN" sz="3000">
                  <a:solidFill>
                    <a:schemeClr val="tx2">
                      <a:lumMod val="60000"/>
                      <a:lumOff val="40000"/>
                    </a:schemeClr>
                  </a:solidFill>
                  <a:latin typeface="Inter"/>
                  <a:ea typeface="Inter"/>
                  <a:cs typeface="Inter"/>
                  <a:sym typeface="Inter"/>
                </a:rPr>
                <a:t>JSP (View): Giao diện người dùng, hiển thị dữ liệu và tương tác</a:t>
              </a:r>
              <a:endParaRPr lang="en-US" sz="3000">
                <a:solidFill>
                  <a:schemeClr val="tx2">
                    <a:lumMod val="60000"/>
                    <a:lumOff val="40000"/>
                  </a:schemeClr>
                </a:solidFill>
                <a:latin typeface="Inter"/>
                <a:ea typeface="Inter"/>
                <a:cs typeface="Inter"/>
                <a:sym typeface="Inter"/>
              </a:endParaRPr>
            </a:p>
            <a:p>
              <a:pPr marL="514350" indent="-514350" algn="l">
                <a:lnSpc>
                  <a:spcPct val="150000"/>
                </a:lnSpc>
                <a:buFont typeface="Wingdings" panose="05000000000000000000" pitchFamily="2" charset="2"/>
                <a:buChar char="q"/>
              </a:pPr>
              <a:r>
                <a:rPr lang="vi-VN" sz="3000">
                  <a:solidFill>
                    <a:schemeClr val="tx2">
                      <a:lumMod val="60000"/>
                      <a:lumOff val="40000"/>
                    </a:schemeClr>
                  </a:solidFill>
                  <a:latin typeface="Inter"/>
                  <a:ea typeface="Inter"/>
                  <a:cs typeface="Inter"/>
                  <a:sym typeface="Inter"/>
                </a:rPr>
                <a:t>Servlet (Controller): Tiếp nhận và xử lý các request từ client</a:t>
              </a:r>
              <a:endParaRPr lang="en-US" sz="3000">
                <a:solidFill>
                  <a:schemeClr val="tx2">
                    <a:lumMod val="60000"/>
                    <a:lumOff val="40000"/>
                  </a:schemeClr>
                </a:solidFill>
                <a:latin typeface="Inter"/>
                <a:ea typeface="Inter"/>
                <a:cs typeface="Inter"/>
                <a:sym typeface="Inter"/>
              </a:endParaRPr>
            </a:p>
            <a:p>
              <a:pPr marL="514350" indent="-514350" algn="l">
                <a:lnSpc>
                  <a:spcPct val="150000"/>
                </a:lnSpc>
                <a:buFont typeface="Wingdings" panose="05000000000000000000" pitchFamily="2" charset="2"/>
                <a:buChar char="q"/>
              </a:pPr>
              <a:r>
                <a:rPr lang="vi-VN" sz="3000">
                  <a:solidFill>
                    <a:schemeClr val="tx2">
                      <a:lumMod val="60000"/>
                      <a:lumOff val="40000"/>
                    </a:schemeClr>
                  </a:solidFill>
                  <a:latin typeface="Inter"/>
                  <a:ea typeface="Inter"/>
                  <a:cs typeface="Inter"/>
                  <a:sym typeface="Inter"/>
                </a:rPr>
                <a:t>JDBC (Model): Kết nối và thực hiện truy vấn với cơ sở dữ liệu MySQL</a:t>
              </a:r>
              <a:endParaRPr lang="en-US" sz="3000">
                <a:solidFill>
                  <a:schemeClr val="tx2">
                    <a:lumMod val="60000"/>
                    <a:lumOff val="40000"/>
                  </a:schemeClr>
                </a:solidFill>
                <a:latin typeface="Inter"/>
                <a:ea typeface="Inter"/>
                <a:sym typeface="Inter"/>
              </a:endParaRPr>
            </a:p>
          </p:txBody>
        </p:sp>
      </p:grpSp>
      <p:pic>
        <p:nvPicPr>
          <p:cNvPr id="4" name="Picture 3">
            <a:extLst>
              <a:ext uri="{FF2B5EF4-FFF2-40B4-BE49-F238E27FC236}">
                <a16:creationId xmlns:a16="http://schemas.microsoft.com/office/drawing/2014/main" id="{C951FF0E-4828-B223-B070-DF36D3E9859E}"/>
              </a:ext>
            </a:extLst>
          </p:cNvPr>
          <p:cNvPicPr>
            <a:picLocks noChangeAspect="1"/>
          </p:cNvPicPr>
          <p:nvPr/>
        </p:nvPicPr>
        <p:blipFill>
          <a:blip r:embed="rId2"/>
          <a:stretch>
            <a:fillRect/>
          </a:stretch>
        </p:blipFill>
        <p:spPr>
          <a:xfrm>
            <a:off x="10896599" y="212487"/>
            <a:ext cx="6574683" cy="9862025"/>
          </a:xfrm>
          <a:prstGeom prst="rect">
            <a:avLst/>
          </a:prstGeom>
        </p:spPr>
      </p:pic>
    </p:spTree>
    <p:extLst>
      <p:ext uri="{BB962C8B-B14F-4D97-AF65-F5344CB8AC3E}">
        <p14:creationId xmlns:p14="http://schemas.microsoft.com/office/powerpoint/2010/main" val="918199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4B74E-C2AE-9347-4C34-1C545CB7901D}"/>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1811B341-4C58-932D-7334-DB52329FED02}"/>
              </a:ext>
            </a:extLst>
          </p:cNvPr>
          <p:cNvSpPr txBox="1"/>
          <p:nvPr/>
        </p:nvSpPr>
        <p:spPr>
          <a:xfrm>
            <a:off x="1219200" y="5080660"/>
            <a:ext cx="12954000" cy="872034"/>
          </a:xfrm>
          <a:prstGeom prst="rect">
            <a:avLst/>
          </a:prstGeom>
          <a:gradFill flip="none" rotWithShape="1">
            <a:gsLst>
              <a:gs pos="0">
                <a:schemeClr val="accent5">
                  <a:tint val="50000"/>
                  <a:satMod val="300000"/>
                </a:schemeClr>
              </a:gs>
              <a:gs pos="35000">
                <a:schemeClr val="accent5">
                  <a:tint val="37000"/>
                  <a:satMod val="300000"/>
                </a:schemeClr>
              </a:gs>
              <a:gs pos="100000">
                <a:schemeClr val="accent5">
                  <a:tint val="15000"/>
                  <a:satMod val="350000"/>
                </a:schemeClr>
              </a:gs>
            </a:gsLst>
            <a:lin ang="5400000" scaled="1"/>
            <a:tileRect/>
          </a:gradFill>
        </p:spPr>
        <p:style>
          <a:lnRef idx="1">
            <a:schemeClr val="accent5"/>
          </a:lnRef>
          <a:fillRef idx="2">
            <a:schemeClr val="accent5"/>
          </a:fillRef>
          <a:effectRef idx="1">
            <a:schemeClr val="accent5"/>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en-US" sz="3200">
                <a:ln w="0"/>
                <a:solidFill>
                  <a:srgbClr val="002060"/>
                </a:solidFill>
                <a:effectLst>
                  <a:outerShdw blurRad="38100" dist="25400" dir="5400000" algn="ctr" rotWithShape="0">
                    <a:srgbClr val="6E747A">
                      <a:alpha val="43000"/>
                    </a:srgbClr>
                  </a:outerShdw>
                </a:effectLst>
                <a:latin typeface="Inter"/>
                <a:ea typeface="Inter"/>
                <a:cs typeface="Inter"/>
                <a:sym typeface="Inter"/>
              </a:rPr>
              <a:t>JSP (JavaServer Pages) là công nghệ phát triển web của Java, dùng để tạo các trang web động.</a:t>
            </a:r>
          </a:p>
        </p:txBody>
      </p:sp>
      <p:sp>
        <p:nvSpPr>
          <p:cNvPr id="10" name="TextBox 10">
            <a:extLst>
              <a:ext uri="{FF2B5EF4-FFF2-40B4-BE49-F238E27FC236}">
                <a16:creationId xmlns:a16="http://schemas.microsoft.com/office/drawing/2014/main" id="{FDCE30EC-74A4-9F61-E88F-EA51EA69AA92}"/>
              </a:ext>
            </a:extLst>
          </p:cNvPr>
          <p:cNvSpPr txBox="1"/>
          <p:nvPr/>
        </p:nvSpPr>
        <p:spPr>
          <a:xfrm>
            <a:off x="1239982" y="6847763"/>
            <a:ext cx="12954000" cy="872034"/>
          </a:xfrm>
          <a:prstGeom prst="rect">
            <a:avLst/>
          </a:prstGeom>
          <a:gradFill flip="none" rotWithShape="1">
            <a:gsLst>
              <a:gs pos="0">
                <a:schemeClr val="accent5">
                  <a:tint val="50000"/>
                  <a:satMod val="300000"/>
                </a:schemeClr>
              </a:gs>
              <a:gs pos="35000">
                <a:schemeClr val="accent5">
                  <a:tint val="37000"/>
                  <a:satMod val="300000"/>
                </a:schemeClr>
              </a:gs>
              <a:gs pos="100000">
                <a:schemeClr val="accent5">
                  <a:tint val="15000"/>
                  <a:satMod val="350000"/>
                </a:schemeClr>
              </a:gs>
            </a:gsLst>
            <a:path path="circle">
              <a:fillToRect l="50000" t="50000" r="50000" b="50000"/>
            </a:path>
            <a:tileRect/>
          </a:gradFill>
        </p:spPr>
        <p:style>
          <a:lnRef idx="1">
            <a:schemeClr val="accent5"/>
          </a:lnRef>
          <a:fillRef idx="2">
            <a:schemeClr val="accent5"/>
          </a:fillRef>
          <a:effectRef idx="1">
            <a:schemeClr val="accent5"/>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ln w="0"/>
                <a:solidFill>
                  <a:srgbClr val="002060"/>
                </a:solidFill>
                <a:effectLst>
                  <a:outerShdw blurRad="38100" dist="25400" dir="5400000" algn="ctr" rotWithShape="0">
                    <a:srgbClr val="6E747A">
                      <a:alpha val="43000"/>
                    </a:srgbClr>
                  </a:outerShdw>
                </a:effectLst>
                <a:latin typeface="Inter"/>
                <a:ea typeface="Inter"/>
                <a:cs typeface="Inter"/>
                <a:sym typeface="Inter"/>
              </a:rPr>
              <a:t>JSP kết hợp giữa HTML và Java, giúp xây dựng giao diện người dùng linh hoạt và tương tác.</a:t>
            </a:r>
            <a:endParaRPr lang="en-US" sz="3200">
              <a:ln w="0"/>
              <a:solidFill>
                <a:srgbClr val="002060"/>
              </a:solidFill>
              <a:effectLst>
                <a:outerShdw blurRad="38100" dist="25400" dir="5400000" algn="ctr" rotWithShape="0">
                  <a:srgbClr val="6E747A">
                    <a:alpha val="43000"/>
                  </a:srgbClr>
                </a:outerShdw>
              </a:effectLst>
              <a:latin typeface="Inter"/>
              <a:ea typeface="Inter"/>
              <a:cs typeface="Inter"/>
              <a:sym typeface="Inter"/>
            </a:endParaRPr>
          </a:p>
        </p:txBody>
      </p:sp>
      <p:sp>
        <p:nvSpPr>
          <p:cNvPr id="16" name="TextBox 16">
            <a:extLst>
              <a:ext uri="{FF2B5EF4-FFF2-40B4-BE49-F238E27FC236}">
                <a16:creationId xmlns:a16="http://schemas.microsoft.com/office/drawing/2014/main" id="{F7755CE9-6081-DD5C-EA4A-7892AB337251}"/>
              </a:ext>
            </a:extLst>
          </p:cNvPr>
          <p:cNvSpPr txBox="1"/>
          <p:nvPr/>
        </p:nvSpPr>
        <p:spPr>
          <a:xfrm>
            <a:off x="1239982" y="8614866"/>
            <a:ext cx="12954000" cy="872034"/>
          </a:xfrm>
          <a:prstGeom prst="rect">
            <a:avLst/>
          </a:prstGeom>
        </p:spPr>
        <p:style>
          <a:lnRef idx="1">
            <a:schemeClr val="accent5"/>
          </a:lnRef>
          <a:fillRef idx="2">
            <a:schemeClr val="accent5"/>
          </a:fillRef>
          <a:effectRef idx="1">
            <a:schemeClr val="accent5"/>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ln w="0"/>
                <a:solidFill>
                  <a:srgbClr val="002060"/>
                </a:solidFill>
                <a:effectLst>
                  <a:outerShdw blurRad="38100" dist="25400" dir="5400000" algn="ctr" rotWithShape="0">
                    <a:srgbClr val="6E747A">
                      <a:alpha val="43000"/>
                    </a:srgbClr>
                  </a:outerShdw>
                </a:effectLst>
                <a:latin typeface="Inter"/>
                <a:ea typeface="Inter"/>
                <a:cs typeface="Inter"/>
                <a:sym typeface="Inter"/>
              </a:rPr>
              <a:t>Trong ứng dụng To-do-list, JSP được sử dụng để hiển thị kết quả và dữ liệu sau khi Servlet xử lý yêu cầu từ người dùng.</a:t>
            </a:r>
            <a:endParaRPr lang="en-US" sz="3200">
              <a:ln w="0"/>
              <a:solidFill>
                <a:srgbClr val="002060"/>
              </a:solidFill>
              <a:effectLst>
                <a:outerShdw blurRad="38100" dist="25400" dir="5400000" algn="ctr" rotWithShape="0">
                  <a:srgbClr val="6E747A">
                    <a:alpha val="43000"/>
                  </a:srgbClr>
                </a:outerShdw>
              </a:effectLst>
              <a:latin typeface="Inter"/>
              <a:ea typeface="Inter"/>
              <a:cs typeface="Inter"/>
              <a:sym typeface="Inter"/>
            </a:endParaRPr>
          </a:p>
        </p:txBody>
      </p:sp>
      <p:sp>
        <p:nvSpPr>
          <p:cNvPr id="20" name="Freeform 20">
            <a:extLst>
              <a:ext uri="{FF2B5EF4-FFF2-40B4-BE49-F238E27FC236}">
                <a16:creationId xmlns:a16="http://schemas.microsoft.com/office/drawing/2014/main" id="{7617175C-B149-F207-A167-7B691F6CC739}"/>
              </a:ext>
            </a:extLst>
          </p:cNvPr>
          <p:cNvSpPr/>
          <p:nvPr/>
        </p:nvSpPr>
        <p:spPr>
          <a:xfrm>
            <a:off x="13716000" y="800100"/>
            <a:ext cx="4255847" cy="2971800"/>
          </a:xfrm>
          <a:custGeom>
            <a:avLst/>
            <a:gdLst/>
            <a:ahLst/>
            <a:cxnLst/>
            <a:rect l="l" t="t" r="r" b="b"/>
            <a:pathLst>
              <a:path w="5459428" h="3414624">
                <a:moveTo>
                  <a:pt x="0" y="0"/>
                </a:moveTo>
                <a:lnTo>
                  <a:pt x="5459428" y="0"/>
                </a:lnTo>
                <a:lnTo>
                  <a:pt x="5459428" y="3414624"/>
                </a:lnTo>
                <a:lnTo>
                  <a:pt x="0" y="34146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TextBox 22">
            <a:extLst>
              <a:ext uri="{FF2B5EF4-FFF2-40B4-BE49-F238E27FC236}">
                <a16:creationId xmlns:a16="http://schemas.microsoft.com/office/drawing/2014/main" id="{34C384B9-9622-6844-C8DB-08BEF6F7E89B}"/>
              </a:ext>
            </a:extLst>
          </p:cNvPr>
          <p:cNvSpPr txBox="1"/>
          <p:nvPr/>
        </p:nvSpPr>
        <p:spPr>
          <a:xfrm>
            <a:off x="593244" y="1163038"/>
            <a:ext cx="9067800" cy="2644250"/>
          </a:xfrm>
          <a:prstGeom prst="rect">
            <a:avLst/>
          </a:prstGeom>
        </p:spPr>
        <p:txBody>
          <a:bodyPr lIns="0" tIns="0" rIns="0" bIns="0" rtlCol="0" anchor="t">
            <a:spAutoFit/>
          </a:bodyPr>
          <a:lstStyle/>
          <a:p>
            <a:pPr algn="ctr">
              <a:lnSpc>
                <a:spcPts val="10559"/>
              </a:lnSpc>
            </a:pPr>
            <a:r>
              <a:rPr lang="en-US" sz="8799">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Inter Bold"/>
                <a:ea typeface="Inter Bold"/>
                <a:cs typeface="Inter Bold"/>
                <a:sym typeface="Inter Bold"/>
              </a:rPr>
              <a:t>Tổng quan về JSP</a:t>
            </a:r>
          </a:p>
        </p:txBody>
      </p:sp>
      <p:sp>
        <p:nvSpPr>
          <p:cNvPr id="35" name="Freeform 18">
            <a:extLst>
              <a:ext uri="{FF2B5EF4-FFF2-40B4-BE49-F238E27FC236}">
                <a16:creationId xmlns:a16="http://schemas.microsoft.com/office/drawing/2014/main" id="{EEBADE36-BC15-457F-8A5A-9AC7EBB2529C}"/>
              </a:ext>
            </a:extLst>
          </p:cNvPr>
          <p:cNvSpPr/>
          <p:nvPr/>
        </p:nvSpPr>
        <p:spPr>
          <a:xfrm>
            <a:off x="10134600" y="1558169"/>
            <a:ext cx="1676400" cy="2754170"/>
          </a:xfrm>
          <a:custGeom>
            <a:avLst/>
            <a:gdLst/>
            <a:ahLst/>
            <a:cxnLst/>
            <a:rect l="l" t="t" r="r" b="b"/>
            <a:pathLst>
              <a:path w="292349" h="664429">
                <a:moveTo>
                  <a:pt x="0" y="0"/>
                </a:moveTo>
                <a:lnTo>
                  <a:pt x="292349" y="0"/>
                </a:lnTo>
                <a:lnTo>
                  <a:pt x="292349" y="664430"/>
                </a:lnTo>
                <a:lnTo>
                  <a:pt x="0" y="6644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628039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C01F6-FF7D-8B4F-50A6-A480D6570A43}"/>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482FF08D-AC0A-23D5-FC9A-BAC98F726F2E}"/>
              </a:ext>
            </a:extLst>
          </p:cNvPr>
          <p:cNvSpPr txBox="1"/>
          <p:nvPr/>
        </p:nvSpPr>
        <p:spPr>
          <a:xfrm>
            <a:off x="1066800" y="4859883"/>
            <a:ext cx="16127428" cy="872034"/>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solidFill>
                  <a:schemeClr val="accent1">
                    <a:lumMod val="75000"/>
                  </a:schemeClr>
                </a:solidFill>
                <a:latin typeface="Inter"/>
                <a:ea typeface="Inter"/>
                <a:cs typeface="Inter"/>
                <a:sym typeface="Inter"/>
              </a:rPr>
              <a:t>JDBC (Java Database Connectivity) là API cho phép Java kết nối và làm việc với cơ sở dữ liệu.</a:t>
            </a:r>
            <a:endParaRPr lang="en-US" sz="3200">
              <a:solidFill>
                <a:schemeClr val="accent1">
                  <a:lumMod val="75000"/>
                </a:schemeClr>
              </a:solidFill>
              <a:latin typeface="Inter"/>
              <a:ea typeface="Inter"/>
              <a:cs typeface="Inter"/>
              <a:sym typeface="Inter"/>
            </a:endParaRPr>
          </a:p>
        </p:txBody>
      </p:sp>
      <p:sp>
        <p:nvSpPr>
          <p:cNvPr id="10" name="TextBox 10">
            <a:extLst>
              <a:ext uri="{FF2B5EF4-FFF2-40B4-BE49-F238E27FC236}">
                <a16:creationId xmlns:a16="http://schemas.microsoft.com/office/drawing/2014/main" id="{561DCCBC-3BDC-5CAA-1FDB-AC9CB6AE0202}"/>
              </a:ext>
            </a:extLst>
          </p:cNvPr>
          <p:cNvSpPr txBox="1"/>
          <p:nvPr/>
        </p:nvSpPr>
        <p:spPr>
          <a:xfrm>
            <a:off x="1066800" y="6311956"/>
            <a:ext cx="16127428" cy="872034"/>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solidFill>
                  <a:schemeClr val="accent1">
                    <a:lumMod val="75000"/>
                  </a:schemeClr>
                </a:solidFill>
                <a:latin typeface="Inter"/>
                <a:ea typeface="Inter"/>
                <a:cs typeface="Inter"/>
                <a:sym typeface="Inter"/>
              </a:rPr>
              <a:t>JDBC cung cấp Driver để kết nối với các hệ quản trị CSDL, trong đề tài này là MySQL.</a:t>
            </a:r>
            <a:endParaRPr lang="en-US" sz="3200">
              <a:solidFill>
                <a:schemeClr val="accent1">
                  <a:lumMod val="75000"/>
                </a:schemeClr>
              </a:solidFill>
              <a:latin typeface="Inter"/>
              <a:ea typeface="Inter"/>
              <a:cs typeface="Inter"/>
              <a:sym typeface="Inter"/>
            </a:endParaRPr>
          </a:p>
        </p:txBody>
      </p:sp>
      <p:sp>
        <p:nvSpPr>
          <p:cNvPr id="16" name="TextBox 16">
            <a:extLst>
              <a:ext uri="{FF2B5EF4-FFF2-40B4-BE49-F238E27FC236}">
                <a16:creationId xmlns:a16="http://schemas.microsoft.com/office/drawing/2014/main" id="{36FA873A-5EC4-6914-DF7E-A55D15A8D892}"/>
              </a:ext>
            </a:extLst>
          </p:cNvPr>
          <p:cNvSpPr txBox="1"/>
          <p:nvPr/>
        </p:nvSpPr>
        <p:spPr>
          <a:xfrm>
            <a:off x="1066800" y="7658100"/>
            <a:ext cx="15954246" cy="1744067"/>
          </a:xfrm>
          <a:prstGeom prst="rect">
            <a:avLst/>
          </a:prstGeom>
        </p:spPr>
        <p:style>
          <a:lnRef idx="1">
            <a:schemeClr val="accent6"/>
          </a:lnRef>
          <a:fillRef idx="2">
            <a:schemeClr val="accent6"/>
          </a:fillRef>
          <a:effectRef idx="1">
            <a:schemeClr val="accent6"/>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solidFill>
                  <a:schemeClr val="accent1">
                    <a:lumMod val="75000"/>
                  </a:schemeClr>
                </a:solidFill>
                <a:latin typeface="Inter"/>
                <a:ea typeface="Inter"/>
                <a:cs typeface="Inter"/>
                <a:sym typeface="Inter"/>
              </a:rPr>
              <a:t>Chức năng chính:</a:t>
            </a:r>
            <a:endParaRPr lang="en-US" sz="3200">
              <a:solidFill>
                <a:schemeClr val="accent1">
                  <a:lumMod val="75000"/>
                </a:schemeClr>
              </a:solidFill>
              <a:latin typeface="Inter"/>
              <a:ea typeface="Inter"/>
              <a:cs typeface="Inter"/>
              <a:sym typeface="Inter"/>
            </a:endParaRPr>
          </a:p>
          <a:p>
            <a:pPr marL="2286000" lvl="4" indent="-457200">
              <a:lnSpc>
                <a:spcPts val="3359"/>
              </a:lnSpc>
              <a:buFont typeface="Courier New" panose="02070309020205020404" pitchFamily="49" charset="0"/>
              <a:buChar char="o"/>
            </a:pPr>
            <a:r>
              <a:rPr lang="vi-VN" sz="3200">
                <a:solidFill>
                  <a:schemeClr val="accent1">
                    <a:lumMod val="75000"/>
                  </a:schemeClr>
                </a:solidFill>
                <a:latin typeface="Inter"/>
                <a:ea typeface="Inter"/>
                <a:cs typeface="Inter"/>
                <a:sym typeface="Inter"/>
              </a:rPr>
              <a:t>Mở kết nối đến CSDL</a:t>
            </a:r>
            <a:endParaRPr lang="en-US" sz="3200">
              <a:solidFill>
                <a:schemeClr val="accent1">
                  <a:lumMod val="75000"/>
                </a:schemeClr>
              </a:solidFill>
              <a:latin typeface="Inter"/>
              <a:ea typeface="Inter"/>
              <a:cs typeface="Inter"/>
              <a:sym typeface="Inter"/>
            </a:endParaRPr>
          </a:p>
          <a:p>
            <a:pPr marL="2286000" lvl="4" indent="-457200">
              <a:lnSpc>
                <a:spcPts val="3359"/>
              </a:lnSpc>
              <a:buFont typeface="Courier New" panose="02070309020205020404" pitchFamily="49" charset="0"/>
              <a:buChar char="o"/>
            </a:pPr>
            <a:r>
              <a:rPr lang="vi-VN" sz="3200">
                <a:solidFill>
                  <a:schemeClr val="accent1">
                    <a:lumMod val="75000"/>
                  </a:schemeClr>
                </a:solidFill>
                <a:latin typeface="Inter"/>
                <a:ea typeface="Inter"/>
                <a:cs typeface="Inter"/>
                <a:sym typeface="Inter"/>
              </a:rPr>
              <a:t>Thực hiện truy vấn (SELECT, INSERT, UPDATE, DELETE)</a:t>
            </a:r>
            <a:endParaRPr lang="en-US" sz="3200">
              <a:solidFill>
                <a:schemeClr val="accent1">
                  <a:lumMod val="75000"/>
                </a:schemeClr>
              </a:solidFill>
              <a:latin typeface="Inter"/>
              <a:ea typeface="Inter"/>
              <a:cs typeface="Inter"/>
              <a:sym typeface="Inter"/>
            </a:endParaRPr>
          </a:p>
          <a:p>
            <a:pPr marL="2286000" lvl="4" indent="-457200">
              <a:lnSpc>
                <a:spcPts val="3359"/>
              </a:lnSpc>
              <a:buFont typeface="Courier New" panose="02070309020205020404" pitchFamily="49" charset="0"/>
              <a:buChar char="o"/>
            </a:pPr>
            <a:r>
              <a:rPr lang="vi-VN" sz="3200">
                <a:solidFill>
                  <a:schemeClr val="accent1">
                    <a:lumMod val="75000"/>
                  </a:schemeClr>
                </a:solidFill>
                <a:latin typeface="Inter"/>
                <a:ea typeface="Inter"/>
                <a:cs typeface="Inter"/>
                <a:sym typeface="Inter"/>
              </a:rPr>
              <a:t>Xử lý kết quả trả về từ truy vấn (ResultSet)</a:t>
            </a:r>
            <a:endParaRPr lang="en-US" sz="3200">
              <a:solidFill>
                <a:schemeClr val="accent1">
                  <a:lumMod val="75000"/>
                </a:schemeClr>
              </a:solidFill>
              <a:latin typeface="Inter"/>
              <a:ea typeface="Inter"/>
              <a:cs typeface="Inter"/>
              <a:sym typeface="Inter"/>
            </a:endParaRPr>
          </a:p>
        </p:txBody>
      </p:sp>
      <p:sp>
        <p:nvSpPr>
          <p:cNvPr id="20" name="Freeform 20">
            <a:extLst>
              <a:ext uri="{FF2B5EF4-FFF2-40B4-BE49-F238E27FC236}">
                <a16:creationId xmlns:a16="http://schemas.microsoft.com/office/drawing/2014/main" id="{CBE4C73D-54EB-32C5-728D-F8400506306C}"/>
              </a:ext>
            </a:extLst>
          </p:cNvPr>
          <p:cNvSpPr/>
          <p:nvPr/>
        </p:nvSpPr>
        <p:spPr>
          <a:xfrm>
            <a:off x="13505340" y="711176"/>
            <a:ext cx="3688887" cy="2644250"/>
          </a:xfrm>
          <a:custGeom>
            <a:avLst/>
            <a:gdLst/>
            <a:ahLst/>
            <a:cxnLst/>
            <a:rect l="l" t="t" r="r" b="b"/>
            <a:pathLst>
              <a:path w="5459428" h="3414624">
                <a:moveTo>
                  <a:pt x="0" y="0"/>
                </a:moveTo>
                <a:lnTo>
                  <a:pt x="5459428" y="0"/>
                </a:lnTo>
                <a:lnTo>
                  <a:pt x="5459428" y="3414624"/>
                </a:lnTo>
                <a:lnTo>
                  <a:pt x="0" y="34146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22" name="TextBox 22">
            <a:extLst>
              <a:ext uri="{FF2B5EF4-FFF2-40B4-BE49-F238E27FC236}">
                <a16:creationId xmlns:a16="http://schemas.microsoft.com/office/drawing/2014/main" id="{3821A3BA-4706-F16B-3698-4D81FF284DB5}"/>
              </a:ext>
            </a:extLst>
          </p:cNvPr>
          <p:cNvSpPr txBox="1"/>
          <p:nvPr/>
        </p:nvSpPr>
        <p:spPr>
          <a:xfrm>
            <a:off x="593244" y="1163038"/>
            <a:ext cx="9067800" cy="2644250"/>
          </a:xfrm>
          <a:prstGeom prst="rect">
            <a:avLst/>
          </a:prstGeom>
        </p:spPr>
        <p:txBody>
          <a:bodyPr lIns="0" tIns="0" rIns="0" bIns="0" rtlCol="0" anchor="t">
            <a:spAutoFit/>
          </a:bodyPr>
          <a:lstStyle/>
          <a:p>
            <a:pPr algn="ctr">
              <a:lnSpc>
                <a:spcPts val="10559"/>
              </a:lnSpc>
            </a:pPr>
            <a:r>
              <a:rPr lang="en-US" sz="8799">
                <a:ln w="0"/>
                <a:solidFill>
                  <a:schemeClr val="accent6">
                    <a:lumMod val="75000"/>
                  </a:schemeClr>
                </a:solidFill>
                <a:effectLst>
                  <a:reflection blurRad="6350" stA="53000" endA="300" endPos="35500" dir="5400000" sy="-90000" algn="bl" rotWithShape="0"/>
                </a:effectLst>
                <a:latin typeface="Inter Bold"/>
                <a:ea typeface="Inter Bold"/>
                <a:cs typeface="Inter Bold"/>
                <a:sym typeface="Inter Bold"/>
              </a:rPr>
              <a:t>Tổng quan về JDBC</a:t>
            </a:r>
          </a:p>
        </p:txBody>
      </p:sp>
      <p:sp>
        <p:nvSpPr>
          <p:cNvPr id="3" name="Freeform 8">
            <a:extLst>
              <a:ext uri="{FF2B5EF4-FFF2-40B4-BE49-F238E27FC236}">
                <a16:creationId xmlns:a16="http://schemas.microsoft.com/office/drawing/2014/main" id="{EAD45B78-FEEB-6E7B-1217-2BA71FB75F93}"/>
              </a:ext>
            </a:extLst>
          </p:cNvPr>
          <p:cNvSpPr/>
          <p:nvPr/>
        </p:nvSpPr>
        <p:spPr>
          <a:xfrm>
            <a:off x="9661044" y="1638300"/>
            <a:ext cx="2787251" cy="2168988"/>
          </a:xfrm>
          <a:custGeom>
            <a:avLst/>
            <a:gdLst/>
            <a:ahLst/>
            <a:cxnLst/>
            <a:rect l="l" t="t" r="r" b="b"/>
            <a:pathLst>
              <a:path w="643423" h="500700">
                <a:moveTo>
                  <a:pt x="0" y="0"/>
                </a:moveTo>
                <a:lnTo>
                  <a:pt x="643423" y="0"/>
                </a:lnTo>
                <a:lnTo>
                  <a:pt x="643423" y="500700"/>
                </a:lnTo>
                <a:lnTo>
                  <a:pt x="0" y="5007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Tree>
    <p:extLst>
      <p:ext uri="{BB962C8B-B14F-4D97-AF65-F5344CB8AC3E}">
        <p14:creationId xmlns:p14="http://schemas.microsoft.com/office/powerpoint/2010/main" val="503988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39F02D-4A5C-C880-7202-4A92D18A807C}"/>
            </a:ext>
          </a:extLst>
        </p:cNvPr>
        <p:cNvGrpSpPr/>
        <p:nvPr/>
      </p:nvGrpSpPr>
      <p:grpSpPr>
        <a:xfrm>
          <a:off x="0" y="0"/>
          <a:ext cx="0" cy="0"/>
          <a:chOff x="0" y="0"/>
          <a:chExt cx="0" cy="0"/>
        </a:xfrm>
      </p:grpSpPr>
      <p:sp>
        <p:nvSpPr>
          <p:cNvPr id="4" name="TextBox 4">
            <a:extLst>
              <a:ext uri="{FF2B5EF4-FFF2-40B4-BE49-F238E27FC236}">
                <a16:creationId xmlns:a16="http://schemas.microsoft.com/office/drawing/2014/main" id="{7DE4D31F-093E-36E7-91C0-A2A79CFB03BE}"/>
              </a:ext>
            </a:extLst>
          </p:cNvPr>
          <p:cNvSpPr txBox="1"/>
          <p:nvPr/>
        </p:nvSpPr>
        <p:spPr>
          <a:xfrm>
            <a:off x="1239982" y="4489475"/>
            <a:ext cx="12954000" cy="130805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solidFill>
                  <a:srgbClr val="FF0000"/>
                </a:solidFill>
              </a:rPr>
              <a:t>Servlet là một thành phần Java chạy trên máy chủ (server-side) dùng để xử lý các yêu cầu từ client và trả về phản hồi , thường là HTML. Servlet thuộc về công nghệ Java EE (Jakarta EE hiện nay).</a:t>
            </a:r>
            <a:endParaRPr lang="en-US" sz="3200">
              <a:ln w="0"/>
              <a:solidFill>
                <a:srgbClr val="FF0000"/>
              </a:solidFill>
              <a:effectLst>
                <a:outerShdw blurRad="38100" dist="25400" dir="5400000" algn="ctr" rotWithShape="0">
                  <a:srgbClr val="6E747A">
                    <a:alpha val="43000"/>
                  </a:srgbClr>
                </a:outerShdw>
              </a:effectLst>
              <a:latin typeface="Inter"/>
              <a:ea typeface="Inter"/>
              <a:cs typeface="Inter"/>
              <a:sym typeface="Inter"/>
            </a:endParaRPr>
          </a:p>
        </p:txBody>
      </p:sp>
      <p:sp>
        <p:nvSpPr>
          <p:cNvPr id="10" name="TextBox 10">
            <a:extLst>
              <a:ext uri="{FF2B5EF4-FFF2-40B4-BE49-F238E27FC236}">
                <a16:creationId xmlns:a16="http://schemas.microsoft.com/office/drawing/2014/main" id="{36BECD8D-6833-4BCD-3395-2B23C6A0E0BC}"/>
              </a:ext>
            </a:extLst>
          </p:cNvPr>
          <p:cNvSpPr txBox="1"/>
          <p:nvPr/>
        </p:nvSpPr>
        <p:spPr>
          <a:xfrm>
            <a:off x="1267196" y="6479712"/>
            <a:ext cx="12954000" cy="130805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kumimoji="0" lang="en-US" altLang="en-US" sz="3200" b="0" i="0" u="none" strike="noStrike" cap="none" normalizeH="0" baseline="0">
                <a:ln>
                  <a:noFill/>
                </a:ln>
                <a:solidFill>
                  <a:srgbClr val="FF0000"/>
                </a:solidFill>
                <a:effectLst/>
                <a:latin typeface="Arial" panose="020B0604020202020204" pitchFamily="34" charset="0"/>
                <a:cs typeface="Arial" panose="020B0604020202020204" pitchFamily="34" charset="0"/>
              </a:rPr>
              <a:t>Khi người dùng gửi yêu cầu HTTP, servlet container (như Tomcat) sẽ gọi phương thức doGet() hoặc doPost() trong servlet để xử lý và trả về kết quả cho client.</a:t>
            </a:r>
          </a:p>
        </p:txBody>
      </p:sp>
      <p:sp>
        <p:nvSpPr>
          <p:cNvPr id="16" name="TextBox 16">
            <a:extLst>
              <a:ext uri="{FF2B5EF4-FFF2-40B4-BE49-F238E27FC236}">
                <a16:creationId xmlns:a16="http://schemas.microsoft.com/office/drawing/2014/main" id="{A6A45DF9-265A-92CB-1D0D-577DF93750C2}"/>
              </a:ext>
            </a:extLst>
          </p:cNvPr>
          <p:cNvSpPr txBox="1"/>
          <p:nvPr/>
        </p:nvSpPr>
        <p:spPr>
          <a:xfrm>
            <a:off x="1239982" y="8614866"/>
            <a:ext cx="12954000" cy="1308050"/>
          </a:xfrm>
          <a:prstGeom prst="rect">
            <a:avLst/>
          </a:prstGeom>
        </p:spPr>
        <p:style>
          <a:lnRef idx="1">
            <a:schemeClr val="accent4"/>
          </a:lnRef>
          <a:fillRef idx="2">
            <a:schemeClr val="accent4"/>
          </a:fillRef>
          <a:effectRef idx="1">
            <a:schemeClr val="accent4"/>
          </a:effectRef>
          <a:fontRef idx="minor">
            <a:schemeClr val="dk1"/>
          </a:fontRef>
        </p:style>
        <p:txBody>
          <a:bodyPr wrap="square" lIns="0" tIns="0" rIns="0" bIns="0" rtlCol="0" anchor="t">
            <a:spAutoFit/>
          </a:bodyPr>
          <a:lstStyle/>
          <a:p>
            <a:pPr marL="457200" indent="-457200">
              <a:lnSpc>
                <a:spcPts val="3359"/>
              </a:lnSpc>
              <a:buFont typeface="Wingdings" panose="05000000000000000000" pitchFamily="2" charset="2"/>
              <a:buChar char="Ø"/>
            </a:pPr>
            <a:r>
              <a:rPr lang="vi-VN" sz="3200">
                <a:solidFill>
                  <a:srgbClr val="FF0000"/>
                </a:solidFill>
              </a:rPr>
              <a:t>Servlet được sử dụng để xây dựng các ứng dụng web động như hệ thống đăng nhập, quản lý dữ liệu, kết nối cơ sở dữ liệu, và các API trong các ứng dụng web Java.</a:t>
            </a:r>
            <a:endParaRPr lang="en-US" sz="3200">
              <a:ln w="0"/>
              <a:solidFill>
                <a:srgbClr val="FF0000"/>
              </a:solidFill>
              <a:effectLst>
                <a:outerShdw blurRad="38100" dist="25400" dir="5400000" algn="ctr" rotWithShape="0">
                  <a:srgbClr val="6E747A">
                    <a:alpha val="43000"/>
                  </a:srgbClr>
                </a:outerShdw>
              </a:effectLst>
              <a:latin typeface="Inter"/>
              <a:ea typeface="Inter"/>
              <a:cs typeface="Inter"/>
              <a:sym typeface="Inter"/>
            </a:endParaRPr>
          </a:p>
        </p:txBody>
      </p:sp>
      <p:sp>
        <p:nvSpPr>
          <p:cNvPr id="20" name="Freeform 20">
            <a:extLst>
              <a:ext uri="{FF2B5EF4-FFF2-40B4-BE49-F238E27FC236}">
                <a16:creationId xmlns:a16="http://schemas.microsoft.com/office/drawing/2014/main" id="{AE3F302E-7047-42D2-4ACD-45B4696AF234}"/>
              </a:ext>
            </a:extLst>
          </p:cNvPr>
          <p:cNvSpPr/>
          <p:nvPr/>
        </p:nvSpPr>
        <p:spPr>
          <a:xfrm>
            <a:off x="12954000" y="419100"/>
            <a:ext cx="5007138" cy="3226836"/>
          </a:xfrm>
          <a:custGeom>
            <a:avLst/>
            <a:gdLst/>
            <a:ahLst/>
            <a:cxnLst/>
            <a:rect l="l" t="t" r="r" b="b"/>
            <a:pathLst>
              <a:path w="5459428" h="3414624">
                <a:moveTo>
                  <a:pt x="0" y="0"/>
                </a:moveTo>
                <a:lnTo>
                  <a:pt x="5459428" y="0"/>
                </a:lnTo>
                <a:lnTo>
                  <a:pt x="5459428" y="3414624"/>
                </a:lnTo>
                <a:lnTo>
                  <a:pt x="0" y="34146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22" name="TextBox 22">
            <a:extLst>
              <a:ext uri="{FF2B5EF4-FFF2-40B4-BE49-F238E27FC236}">
                <a16:creationId xmlns:a16="http://schemas.microsoft.com/office/drawing/2014/main" id="{011C5274-D968-0635-C246-3006CE45808A}"/>
              </a:ext>
            </a:extLst>
          </p:cNvPr>
          <p:cNvSpPr txBox="1"/>
          <p:nvPr/>
        </p:nvSpPr>
        <p:spPr>
          <a:xfrm>
            <a:off x="593244" y="1163038"/>
            <a:ext cx="9067800" cy="2644250"/>
          </a:xfrm>
          <a:prstGeom prst="rect">
            <a:avLst/>
          </a:prstGeom>
        </p:spPr>
        <p:txBody>
          <a:bodyPr lIns="0" tIns="0" rIns="0" bIns="0" rtlCol="0" anchor="t">
            <a:spAutoFit/>
          </a:bodyPr>
          <a:lstStyle/>
          <a:p>
            <a:pPr algn="ctr">
              <a:lnSpc>
                <a:spcPts val="10559"/>
              </a:lnSpc>
            </a:pPr>
            <a:r>
              <a:rPr lang="en-US" sz="8799">
                <a:ln w="0"/>
                <a:solidFill>
                  <a:srgbClr val="C259D3"/>
                </a:solidFill>
                <a:effectLst>
                  <a:reflection blurRad="6350" stA="53000" endA="300" endPos="35500" dir="5400000" sy="-90000" algn="bl" rotWithShape="0"/>
                </a:effectLst>
                <a:latin typeface="Inter Bold"/>
                <a:ea typeface="Inter Bold"/>
                <a:cs typeface="Inter Bold"/>
                <a:sym typeface="Inter Bold"/>
              </a:rPr>
              <a:t>Tổng quan về </a:t>
            </a:r>
            <a:r>
              <a:rPr lang="en-ZW" sz="8800">
                <a:ln w="0"/>
                <a:solidFill>
                  <a:srgbClr val="C259D3"/>
                </a:solidFill>
                <a:effectLst>
                  <a:reflection blurRad="6350" stA="53000" endA="300" endPos="35500" dir="5400000" sy="-90000" algn="bl" rotWithShape="0"/>
                </a:effectLst>
                <a:latin typeface="Inter Bold"/>
                <a:ea typeface="Inter Bold"/>
                <a:cs typeface="Inter Bold"/>
                <a:sym typeface="Inter Bold"/>
              </a:rPr>
              <a:t>Servlet</a:t>
            </a:r>
            <a:r>
              <a:rPr lang="en-US" sz="8799">
                <a:ln w="0"/>
                <a:solidFill>
                  <a:srgbClr val="C259D3"/>
                </a:solidFill>
                <a:effectLst>
                  <a:reflection blurRad="6350" stA="53000" endA="300" endPos="35500" dir="5400000" sy="-90000" algn="bl" rotWithShape="0"/>
                </a:effectLst>
                <a:latin typeface="Inter Bold"/>
                <a:ea typeface="Inter Bold"/>
                <a:cs typeface="Inter Bold"/>
                <a:sym typeface="Inter Bold"/>
              </a:rPr>
              <a:t> </a:t>
            </a:r>
          </a:p>
        </p:txBody>
      </p:sp>
      <p:sp>
        <p:nvSpPr>
          <p:cNvPr id="3" name="Freeform 11">
            <a:extLst>
              <a:ext uri="{FF2B5EF4-FFF2-40B4-BE49-F238E27FC236}">
                <a16:creationId xmlns:a16="http://schemas.microsoft.com/office/drawing/2014/main" id="{4C88521C-ECA6-ECEE-9F17-0D451D640447}"/>
              </a:ext>
            </a:extLst>
          </p:cNvPr>
          <p:cNvSpPr/>
          <p:nvPr/>
        </p:nvSpPr>
        <p:spPr>
          <a:xfrm>
            <a:off x="9688753" y="1455132"/>
            <a:ext cx="2365055" cy="2352156"/>
          </a:xfrm>
          <a:custGeom>
            <a:avLst/>
            <a:gdLst/>
            <a:ahLst/>
            <a:cxnLst/>
            <a:rect l="l" t="t" r="r" b="b"/>
            <a:pathLst>
              <a:path w="565628" h="562543">
                <a:moveTo>
                  <a:pt x="0" y="0"/>
                </a:moveTo>
                <a:lnTo>
                  <a:pt x="565628" y="0"/>
                </a:lnTo>
                <a:lnTo>
                  <a:pt x="565628" y="562544"/>
                </a:lnTo>
                <a:lnTo>
                  <a:pt x="0" y="56254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8" name="Rectangle 5">
            <a:extLst>
              <a:ext uri="{FF2B5EF4-FFF2-40B4-BE49-F238E27FC236}">
                <a16:creationId xmlns:a16="http://schemas.microsoft.com/office/drawing/2014/main" id="{9ADEB8C8-702E-9900-3995-DBD21EAFDC37}"/>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74731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a:extLst>
            <a:ext uri="{FF2B5EF4-FFF2-40B4-BE49-F238E27FC236}">
              <a16:creationId xmlns:a16="http://schemas.microsoft.com/office/drawing/2014/main" id="{B9367886-4737-3A83-2D4A-54D7B8225C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3F70A50-13A0-6B23-745F-9B38076F97AE}"/>
              </a:ext>
            </a:extLst>
          </p:cNvPr>
          <p:cNvGrpSpPr/>
          <p:nvPr/>
        </p:nvGrpSpPr>
        <p:grpSpPr>
          <a:xfrm>
            <a:off x="685800" y="190500"/>
            <a:ext cx="16916400" cy="2838589"/>
            <a:chOff x="0" y="0"/>
            <a:chExt cx="18397796" cy="3784785"/>
          </a:xfrm>
        </p:grpSpPr>
        <p:sp>
          <p:nvSpPr>
            <p:cNvPr id="3" name="TextBox 3">
              <a:extLst>
                <a:ext uri="{FF2B5EF4-FFF2-40B4-BE49-F238E27FC236}">
                  <a16:creationId xmlns:a16="http://schemas.microsoft.com/office/drawing/2014/main" id="{56040113-4F2A-E00A-2AB0-B0EEC80D5217}"/>
                </a:ext>
              </a:extLst>
            </p:cNvPr>
            <p:cNvSpPr txBox="1"/>
            <p:nvPr/>
          </p:nvSpPr>
          <p:spPr>
            <a:xfrm>
              <a:off x="0" y="2540000"/>
              <a:ext cx="18397796" cy="1244785"/>
            </a:xfrm>
            <a:prstGeom prst="rect">
              <a:avLst/>
            </a:prstGeom>
          </p:spPr>
          <p:txBody>
            <a:bodyPr lIns="0" tIns="0" rIns="0" bIns="0" rtlCol="0" anchor="t">
              <a:spAutoFit/>
            </a:bodyPr>
            <a:lstStyle/>
            <a:p>
              <a:pPr marL="0" marR="0" lvl="0" indent="0" algn="ctr" defTabSz="914400" rtl="0" eaLnBrk="1" fontAlgn="auto" latinLnBrk="0" hangingPunct="1">
                <a:lnSpc>
                  <a:spcPts val="7680"/>
                </a:lnSpc>
                <a:spcBef>
                  <a:spcPts val="0"/>
                </a:spcBef>
                <a:spcAft>
                  <a:spcPts val="0"/>
                </a:spcAft>
                <a:buClrTx/>
                <a:buSzTx/>
                <a:buFontTx/>
                <a:buNone/>
                <a:tabLst/>
                <a:defRPr/>
              </a:pPr>
              <a:r>
                <a:rPr kumimoji="0" lang="en-US" sz="6400" i="0" u="none" strike="noStrike" kern="1200" normalizeH="0" baseline="0" noProof="0">
                  <a:ln w="0"/>
                  <a:solidFill>
                    <a:schemeClr val="accent1"/>
                  </a:solidFill>
                  <a:effectLst>
                    <a:outerShdw blurRad="38100" dist="25400" dir="5400000" algn="ctr" rotWithShape="0">
                      <a:srgbClr val="6E747A">
                        <a:alpha val="43000"/>
                      </a:srgbClr>
                    </a:outerShdw>
                  </a:effectLst>
                  <a:uLnTx/>
                  <a:uFillTx/>
                  <a:latin typeface="Inter Bold"/>
                  <a:ea typeface="Inter Bold"/>
                  <a:cs typeface="Inter Bold"/>
                  <a:sym typeface="Inter Bold"/>
                </a:rPr>
                <a:t>Mối liên hệ giữa JSP - Servlet - JDBC</a:t>
              </a:r>
            </a:p>
          </p:txBody>
        </p:sp>
        <p:sp>
          <p:nvSpPr>
            <p:cNvPr id="4" name="Freeform 4">
              <a:extLst>
                <a:ext uri="{FF2B5EF4-FFF2-40B4-BE49-F238E27FC236}">
                  <a16:creationId xmlns:a16="http://schemas.microsoft.com/office/drawing/2014/main" id="{9017BE39-E8DB-68BD-4AEC-3E44CF1EE7BD}"/>
                </a:ext>
              </a:extLst>
            </p:cNvPr>
            <p:cNvSpPr/>
            <p:nvPr/>
          </p:nvSpPr>
          <p:spPr>
            <a:xfrm>
              <a:off x="7715275" y="0"/>
              <a:ext cx="2967246" cy="2433141"/>
            </a:xfrm>
            <a:custGeom>
              <a:avLst/>
              <a:gdLst/>
              <a:ahLst/>
              <a:cxnLst/>
              <a:rect l="l" t="t" r="r" b="b"/>
              <a:pathLst>
                <a:path w="2967246" h="2433141">
                  <a:moveTo>
                    <a:pt x="0" y="0"/>
                  </a:moveTo>
                  <a:lnTo>
                    <a:pt x="2967246" y="0"/>
                  </a:lnTo>
                  <a:lnTo>
                    <a:pt x="2967246" y="2433141"/>
                  </a:lnTo>
                  <a:lnTo>
                    <a:pt x="0" y="24331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sp>
        <p:nvSpPr>
          <p:cNvPr id="36" name="TextBox 4">
            <a:extLst>
              <a:ext uri="{FF2B5EF4-FFF2-40B4-BE49-F238E27FC236}">
                <a16:creationId xmlns:a16="http://schemas.microsoft.com/office/drawing/2014/main" id="{ABFC9AC0-002E-E96F-763D-0BBD655D9818}"/>
              </a:ext>
            </a:extLst>
          </p:cNvPr>
          <p:cNvSpPr txBox="1"/>
          <p:nvPr/>
        </p:nvSpPr>
        <p:spPr>
          <a:xfrm>
            <a:off x="2057400" y="3543300"/>
            <a:ext cx="14630400" cy="2110258"/>
          </a:xfrm>
          <a:prstGeom prst="rect">
            <a:avLst/>
          </a:prstGeom>
        </p:spPr>
        <p:txBody>
          <a:bodyPr wrap="square" lIns="0" tIns="0" rIns="0" bIns="0" rtlCol="0" anchor="t">
            <a:spAutoFit/>
          </a:bodyPr>
          <a:lstStyle/>
          <a:p>
            <a:pPr lvl="1">
              <a:lnSpc>
                <a:spcPts val="4200"/>
              </a:lnSpc>
            </a:pPr>
            <a:r>
              <a:rPr lang="vi-VN" sz="3000" b="1">
                <a:solidFill>
                  <a:schemeClr val="tx2">
                    <a:lumMod val="75000"/>
                  </a:schemeClr>
                </a:solidFill>
                <a:latin typeface="Inter"/>
                <a:ea typeface="Inter"/>
                <a:cs typeface="Inter"/>
                <a:sym typeface="Inter"/>
              </a:rPr>
              <a:t>Vai trò của từng thành phần:</a:t>
            </a:r>
            <a:endParaRPr lang="en-US" sz="3000" b="1">
              <a:solidFill>
                <a:schemeClr val="tx2">
                  <a:lumMod val="75000"/>
                </a:schemeClr>
              </a:solidFill>
              <a:latin typeface="Inter"/>
              <a:ea typeface="Inter"/>
              <a:cs typeface="Inter"/>
              <a:sym typeface="Inter"/>
            </a:endParaRPr>
          </a:p>
          <a:p>
            <a:pPr marL="2286000" lvl="4" indent="-457200">
              <a:lnSpc>
                <a:spcPts val="4200"/>
              </a:lnSpc>
              <a:buFont typeface="Arial" panose="020B0604020202020204" pitchFamily="34" charset="0"/>
              <a:buChar char="•"/>
            </a:pPr>
            <a:r>
              <a:rPr lang="vi-VN" sz="3000" i="1">
                <a:solidFill>
                  <a:schemeClr val="tx2">
                    <a:lumMod val="75000"/>
                  </a:schemeClr>
                </a:solidFill>
                <a:latin typeface="Inter"/>
                <a:ea typeface="Inter"/>
                <a:cs typeface="Inter"/>
                <a:sym typeface="Inter"/>
              </a:rPr>
              <a:t>JSP (View): Giao diện hiển thị dữ liệu cho người dùng</a:t>
            </a:r>
            <a:endParaRPr lang="en-US" sz="3000" i="1">
              <a:solidFill>
                <a:schemeClr val="tx2">
                  <a:lumMod val="75000"/>
                </a:schemeClr>
              </a:solidFill>
              <a:latin typeface="Inter"/>
              <a:ea typeface="Inter"/>
              <a:cs typeface="Inter"/>
              <a:sym typeface="Inter"/>
            </a:endParaRPr>
          </a:p>
          <a:p>
            <a:pPr marL="2286000" lvl="4" indent="-457200">
              <a:lnSpc>
                <a:spcPts val="4200"/>
              </a:lnSpc>
              <a:buFont typeface="Arial" panose="020B0604020202020204" pitchFamily="34" charset="0"/>
              <a:buChar char="•"/>
            </a:pPr>
            <a:r>
              <a:rPr lang="vi-VN" sz="3000" i="1">
                <a:solidFill>
                  <a:schemeClr val="tx2">
                    <a:lumMod val="75000"/>
                  </a:schemeClr>
                </a:solidFill>
                <a:latin typeface="Inter"/>
                <a:ea typeface="Inter"/>
                <a:cs typeface="Inter"/>
                <a:sym typeface="Inter"/>
              </a:rPr>
              <a:t>Servlet (Controller): Xử lý request, điều hướng và gọi JDBC</a:t>
            </a:r>
            <a:endParaRPr lang="en-US" sz="3000" i="1">
              <a:solidFill>
                <a:schemeClr val="tx2">
                  <a:lumMod val="75000"/>
                </a:schemeClr>
              </a:solidFill>
              <a:latin typeface="Inter"/>
              <a:ea typeface="Inter"/>
              <a:cs typeface="Inter"/>
              <a:sym typeface="Inter"/>
            </a:endParaRPr>
          </a:p>
          <a:p>
            <a:pPr marL="2286000" lvl="4" indent="-457200">
              <a:lnSpc>
                <a:spcPts val="4200"/>
              </a:lnSpc>
              <a:buFont typeface="Arial" panose="020B0604020202020204" pitchFamily="34" charset="0"/>
              <a:buChar char="•"/>
            </a:pPr>
            <a:r>
              <a:rPr lang="vi-VN" sz="3000" i="1">
                <a:solidFill>
                  <a:schemeClr val="tx2">
                    <a:lumMod val="75000"/>
                  </a:schemeClr>
                </a:solidFill>
                <a:latin typeface="Inter"/>
                <a:ea typeface="Inter"/>
                <a:cs typeface="Inter"/>
                <a:sym typeface="Inter"/>
              </a:rPr>
              <a:t>JDBC (Model): Kết nối và truy vấn dữ liệu từ MySQL</a:t>
            </a:r>
            <a:endParaRPr lang="en-US" sz="3000" i="1">
              <a:solidFill>
                <a:schemeClr val="tx2">
                  <a:lumMod val="75000"/>
                </a:schemeClr>
              </a:solidFill>
              <a:latin typeface="Inter"/>
              <a:ea typeface="Inter"/>
              <a:sym typeface="Inter"/>
            </a:endParaRPr>
          </a:p>
        </p:txBody>
      </p:sp>
      <p:sp>
        <p:nvSpPr>
          <p:cNvPr id="39" name="Rectangle: Rounded Corners 38">
            <a:extLst>
              <a:ext uri="{FF2B5EF4-FFF2-40B4-BE49-F238E27FC236}">
                <a16:creationId xmlns:a16="http://schemas.microsoft.com/office/drawing/2014/main" id="{148E84F6-BBB4-296F-E5B3-7090122AD7CA}"/>
              </a:ext>
            </a:extLst>
          </p:cNvPr>
          <p:cNvSpPr/>
          <p:nvPr/>
        </p:nvSpPr>
        <p:spPr>
          <a:xfrm>
            <a:off x="1119522" y="6670964"/>
            <a:ext cx="3200400" cy="1371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Rounded Corners 41">
            <a:extLst>
              <a:ext uri="{FF2B5EF4-FFF2-40B4-BE49-F238E27FC236}">
                <a16:creationId xmlns:a16="http://schemas.microsoft.com/office/drawing/2014/main" id="{D188CA93-4A41-DFBA-3CE3-C0BB03F56B15}"/>
              </a:ext>
            </a:extLst>
          </p:cNvPr>
          <p:cNvSpPr/>
          <p:nvPr/>
        </p:nvSpPr>
        <p:spPr>
          <a:xfrm>
            <a:off x="5292948" y="6667500"/>
            <a:ext cx="3200400" cy="1371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Rounded Corners 42">
            <a:extLst>
              <a:ext uri="{FF2B5EF4-FFF2-40B4-BE49-F238E27FC236}">
                <a16:creationId xmlns:a16="http://schemas.microsoft.com/office/drawing/2014/main" id="{8406F7D2-1830-BDF6-5BB6-422274556AB7}"/>
              </a:ext>
            </a:extLst>
          </p:cNvPr>
          <p:cNvSpPr/>
          <p:nvPr/>
        </p:nvSpPr>
        <p:spPr>
          <a:xfrm>
            <a:off x="9466374" y="6667500"/>
            <a:ext cx="3200400" cy="1371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Rounded Corners 43">
            <a:extLst>
              <a:ext uri="{FF2B5EF4-FFF2-40B4-BE49-F238E27FC236}">
                <a16:creationId xmlns:a16="http://schemas.microsoft.com/office/drawing/2014/main" id="{0E6A6864-AB02-3E32-AECA-1BD47C61116E}"/>
              </a:ext>
            </a:extLst>
          </p:cNvPr>
          <p:cNvSpPr/>
          <p:nvPr/>
        </p:nvSpPr>
        <p:spPr>
          <a:xfrm>
            <a:off x="13639800" y="6667500"/>
            <a:ext cx="3200400" cy="1371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6" name="Straight Arrow Connector 45">
            <a:extLst>
              <a:ext uri="{FF2B5EF4-FFF2-40B4-BE49-F238E27FC236}">
                <a16:creationId xmlns:a16="http://schemas.microsoft.com/office/drawing/2014/main" id="{7A459614-3F61-7012-AB42-6D3F9FA11349}"/>
              </a:ext>
            </a:extLst>
          </p:cNvPr>
          <p:cNvCxnSpPr/>
          <p:nvPr/>
        </p:nvCxnSpPr>
        <p:spPr>
          <a:xfrm>
            <a:off x="4495800" y="7277100"/>
            <a:ext cx="6096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7" name="Straight Arrow Connector 46">
            <a:extLst>
              <a:ext uri="{FF2B5EF4-FFF2-40B4-BE49-F238E27FC236}">
                <a16:creationId xmlns:a16="http://schemas.microsoft.com/office/drawing/2014/main" id="{3ECB419F-0CEE-9E53-B354-6CE6F8712168}"/>
              </a:ext>
            </a:extLst>
          </p:cNvPr>
          <p:cNvCxnSpPr/>
          <p:nvPr/>
        </p:nvCxnSpPr>
        <p:spPr>
          <a:xfrm>
            <a:off x="8686800" y="7277100"/>
            <a:ext cx="6096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cxnSp>
        <p:nvCxnSpPr>
          <p:cNvPr id="48" name="Straight Arrow Connector 47">
            <a:extLst>
              <a:ext uri="{FF2B5EF4-FFF2-40B4-BE49-F238E27FC236}">
                <a16:creationId xmlns:a16="http://schemas.microsoft.com/office/drawing/2014/main" id="{FFA7FD12-C6F2-C6DA-7D15-3373D4485BCF}"/>
              </a:ext>
            </a:extLst>
          </p:cNvPr>
          <p:cNvCxnSpPr/>
          <p:nvPr/>
        </p:nvCxnSpPr>
        <p:spPr>
          <a:xfrm>
            <a:off x="12877800" y="7270173"/>
            <a:ext cx="609600" cy="0"/>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
        <p:nvSpPr>
          <p:cNvPr id="49" name="TextBox 48">
            <a:extLst>
              <a:ext uri="{FF2B5EF4-FFF2-40B4-BE49-F238E27FC236}">
                <a16:creationId xmlns:a16="http://schemas.microsoft.com/office/drawing/2014/main" id="{981DB526-0576-0731-829A-6366F86F675D}"/>
              </a:ext>
            </a:extLst>
          </p:cNvPr>
          <p:cNvSpPr txBox="1"/>
          <p:nvPr/>
        </p:nvSpPr>
        <p:spPr>
          <a:xfrm>
            <a:off x="1656578" y="6814691"/>
            <a:ext cx="2126288" cy="1077218"/>
          </a:xfrm>
          <a:prstGeom prst="rect">
            <a:avLst/>
          </a:prstGeom>
          <a:noFill/>
        </p:spPr>
        <p:txBody>
          <a:bodyPr wrap="none" rtlCol="0">
            <a:spAutoFit/>
          </a:bodyPr>
          <a:lstStyle/>
          <a:p>
            <a:pPr algn="ctr"/>
            <a:r>
              <a:rPr lang="en-US" sz="3200"/>
              <a:t>Servlet</a:t>
            </a:r>
            <a:br>
              <a:rPr lang="en-US" sz="3200"/>
            </a:br>
            <a:r>
              <a:rPr lang="en-US" sz="3200"/>
              <a:t>(Xử lý logic)</a:t>
            </a:r>
          </a:p>
        </p:txBody>
      </p:sp>
      <p:sp>
        <p:nvSpPr>
          <p:cNvPr id="50" name="TextBox 49">
            <a:extLst>
              <a:ext uri="{FF2B5EF4-FFF2-40B4-BE49-F238E27FC236}">
                <a16:creationId xmlns:a16="http://schemas.microsoft.com/office/drawing/2014/main" id="{3781E1C8-FF81-2309-408E-64E748D8D524}"/>
              </a:ext>
            </a:extLst>
          </p:cNvPr>
          <p:cNvSpPr txBox="1"/>
          <p:nvPr/>
        </p:nvSpPr>
        <p:spPr>
          <a:xfrm>
            <a:off x="5688042" y="6814691"/>
            <a:ext cx="2410212" cy="1077218"/>
          </a:xfrm>
          <a:prstGeom prst="rect">
            <a:avLst/>
          </a:prstGeom>
          <a:noFill/>
        </p:spPr>
        <p:txBody>
          <a:bodyPr wrap="none" rtlCol="0">
            <a:spAutoFit/>
          </a:bodyPr>
          <a:lstStyle/>
          <a:p>
            <a:pPr algn="ctr"/>
            <a:r>
              <a:rPr lang="en-US" sz="3200"/>
              <a:t>JDBC</a:t>
            </a:r>
            <a:br>
              <a:rPr lang="en-US" sz="3200"/>
            </a:br>
            <a:r>
              <a:rPr lang="en-US" sz="3200"/>
              <a:t>(Truy vấn DB)</a:t>
            </a:r>
          </a:p>
        </p:txBody>
      </p:sp>
      <p:sp>
        <p:nvSpPr>
          <p:cNvPr id="51" name="TextBox 50">
            <a:extLst>
              <a:ext uri="{FF2B5EF4-FFF2-40B4-BE49-F238E27FC236}">
                <a16:creationId xmlns:a16="http://schemas.microsoft.com/office/drawing/2014/main" id="{9C362E43-B764-7F0D-E93A-A01E720D0080}"/>
              </a:ext>
            </a:extLst>
          </p:cNvPr>
          <p:cNvSpPr txBox="1"/>
          <p:nvPr/>
        </p:nvSpPr>
        <p:spPr>
          <a:xfrm>
            <a:off x="9733215" y="6814691"/>
            <a:ext cx="2587568" cy="1077218"/>
          </a:xfrm>
          <a:prstGeom prst="rect">
            <a:avLst/>
          </a:prstGeom>
          <a:noFill/>
        </p:spPr>
        <p:txBody>
          <a:bodyPr wrap="none" rtlCol="0">
            <a:spAutoFit/>
          </a:bodyPr>
          <a:lstStyle/>
          <a:p>
            <a:pPr algn="ctr"/>
            <a:r>
              <a:rPr lang="en-US" sz="3200"/>
              <a:t>Servlet</a:t>
            </a:r>
            <a:br>
              <a:rPr lang="en-US" sz="3200"/>
            </a:br>
            <a:r>
              <a:rPr lang="en-US" sz="3200"/>
              <a:t>(Nhận dữ liệu)</a:t>
            </a:r>
          </a:p>
        </p:txBody>
      </p:sp>
      <p:sp>
        <p:nvSpPr>
          <p:cNvPr id="52" name="TextBox 51">
            <a:extLst>
              <a:ext uri="{FF2B5EF4-FFF2-40B4-BE49-F238E27FC236}">
                <a16:creationId xmlns:a16="http://schemas.microsoft.com/office/drawing/2014/main" id="{8B521FC9-E5D6-32A3-B1DD-8719504A3484}"/>
              </a:ext>
            </a:extLst>
          </p:cNvPr>
          <p:cNvSpPr txBox="1"/>
          <p:nvPr/>
        </p:nvSpPr>
        <p:spPr>
          <a:xfrm>
            <a:off x="13737025" y="6738491"/>
            <a:ext cx="3005951" cy="1077218"/>
          </a:xfrm>
          <a:prstGeom prst="rect">
            <a:avLst/>
          </a:prstGeom>
          <a:noFill/>
        </p:spPr>
        <p:txBody>
          <a:bodyPr wrap="none" rtlCol="0">
            <a:spAutoFit/>
          </a:bodyPr>
          <a:lstStyle/>
          <a:p>
            <a:pPr algn="ctr"/>
            <a:r>
              <a:rPr lang="en-US" sz="3200"/>
              <a:t>JSP</a:t>
            </a:r>
            <a:br>
              <a:rPr lang="en-US" sz="3200"/>
            </a:br>
            <a:r>
              <a:rPr lang="en-US" sz="3200"/>
              <a:t>(Hiển thị dữ liệu)</a:t>
            </a:r>
          </a:p>
        </p:txBody>
      </p:sp>
    </p:spTree>
    <p:extLst>
      <p:ext uri="{BB962C8B-B14F-4D97-AF65-F5344CB8AC3E}">
        <p14:creationId xmlns:p14="http://schemas.microsoft.com/office/powerpoint/2010/main" val="4201248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txBox="1"/>
          <p:nvPr/>
        </p:nvSpPr>
        <p:spPr>
          <a:xfrm>
            <a:off x="838200" y="419100"/>
            <a:ext cx="16916400" cy="1284904"/>
          </a:xfrm>
          <a:prstGeom prst="rect">
            <a:avLst/>
          </a:prstGeom>
        </p:spPr>
        <p:txBody>
          <a:bodyPr wrap="square" lIns="0" tIns="0" rIns="0" bIns="0" rtlCol="0" anchor="t">
            <a:spAutoFit/>
          </a:bodyPr>
          <a:lstStyle/>
          <a:p>
            <a:pPr algn="ctr">
              <a:lnSpc>
                <a:spcPts val="10559"/>
              </a:lnSpc>
            </a:pPr>
            <a:r>
              <a:rPr lang="en-US" sz="8799" b="1">
                <a:ln w="6600">
                  <a:solidFill>
                    <a:schemeClr val="accent2"/>
                  </a:solidFill>
                  <a:prstDash val="solid"/>
                </a:ln>
                <a:solidFill>
                  <a:schemeClr val="accent2">
                    <a:lumMod val="40000"/>
                    <a:lumOff val="60000"/>
                  </a:schemeClr>
                </a:solidFill>
                <a:effectLst>
                  <a:outerShdw dist="38100" dir="2700000" algn="tl" rotWithShape="0">
                    <a:schemeClr val="accent2"/>
                  </a:outerShdw>
                </a:effectLst>
                <a:latin typeface="Inter Bold"/>
                <a:ea typeface="Inter Bold"/>
                <a:cs typeface="Inter Bold"/>
                <a:sym typeface="Inter Bold"/>
              </a:rPr>
              <a:t>Sơ đồ mối liên hệ</a:t>
            </a:r>
          </a:p>
        </p:txBody>
      </p:sp>
      <p:sp>
        <p:nvSpPr>
          <p:cNvPr id="24" name="Rectangle: Rounded Corners 23">
            <a:extLst>
              <a:ext uri="{FF2B5EF4-FFF2-40B4-BE49-F238E27FC236}">
                <a16:creationId xmlns:a16="http://schemas.microsoft.com/office/drawing/2014/main" id="{EB45C9BE-347F-3372-8381-0A578F02D770}"/>
              </a:ext>
            </a:extLst>
          </p:cNvPr>
          <p:cNvSpPr/>
          <p:nvPr/>
        </p:nvSpPr>
        <p:spPr>
          <a:xfrm>
            <a:off x="3708776" y="4597899"/>
            <a:ext cx="2349122" cy="1371600"/>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2B0F878F-8947-811D-E0DE-4830AFC72171}"/>
              </a:ext>
            </a:extLst>
          </p:cNvPr>
          <p:cNvSpPr txBox="1"/>
          <p:nvPr/>
        </p:nvSpPr>
        <p:spPr>
          <a:xfrm>
            <a:off x="4508877" y="2095500"/>
            <a:ext cx="748923" cy="1631216"/>
          </a:xfrm>
          <a:prstGeom prst="rect">
            <a:avLst/>
          </a:prstGeom>
          <a:noFill/>
        </p:spPr>
        <p:txBody>
          <a:bodyPr wrap="square" rtlCol="0">
            <a:spAutoFit/>
          </a:bodyPr>
          <a:lstStyle/>
          <a:p>
            <a:pPr algn="ctr"/>
            <a:r>
              <a:rPr lang="en-US" sz="10000"/>
              <a:t>🖥️</a:t>
            </a:r>
          </a:p>
        </p:txBody>
      </p:sp>
      <p:sp>
        <p:nvSpPr>
          <p:cNvPr id="28" name="TextBox 27">
            <a:extLst>
              <a:ext uri="{FF2B5EF4-FFF2-40B4-BE49-F238E27FC236}">
                <a16:creationId xmlns:a16="http://schemas.microsoft.com/office/drawing/2014/main" id="{B0DE2718-F80E-D08D-9836-4D2559F000AC}"/>
              </a:ext>
            </a:extLst>
          </p:cNvPr>
          <p:cNvSpPr txBox="1"/>
          <p:nvPr/>
        </p:nvSpPr>
        <p:spPr>
          <a:xfrm>
            <a:off x="8852277" y="4229100"/>
            <a:ext cx="748923" cy="1631216"/>
          </a:xfrm>
          <a:prstGeom prst="rect">
            <a:avLst/>
          </a:prstGeom>
          <a:noFill/>
        </p:spPr>
        <p:txBody>
          <a:bodyPr wrap="square" rtlCol="0">
            <a:spAutoFit/>
          </a:bodyPr>
          <a:lstStyle/>
          <a:p>
            <a:pPr algn="ctr"/>
            <a:r>
              <a:rPr lang="en-US" sz="10000"/>
              <a:t>🖼️</a:t>
            </a:r>
          </a:p>
        </p:txBody>
      </p:sp>
      <p:sp>
        <p:nvSpPr>
          <p:cNvPr id="32" name="TextBox 31">
            <a:extLst>
              <a:ext uri="{FF2B5EF4-FFF2-40B4-BE49-F238E27FC236}">
                <a16:creationId xmlns:a16="http://schemas.microsoft.com/office/drawing/2014/main" id="{72B52907-9314-DD12-2410-E75ADDA853E3}"/>
              </a:ext>
            </a:extLst>
          </p:cNvPr>
          <p:cNvSpPr txBox="1"/>
          <p:nvPr/>
        </p:nvSpPr>
        <p:spPr>
          <a:xfrm>
            <a:off x="4508876" y="7375892"/>
            <a:ext cx="748923" cy="1631216"/>
          </a:xfrm>
          <a:prstGeom prst="rect">
            <a:avLst/>
          </a:prstGeom>
          <a:noFill/>
        </p:spPr>
        <p:txBody>
          <a:bodyPr wrap="square" rtlCol="0">
            <a:spAutoFit/>
          </a:bodyPr>
          <a:lstStyle/>
          <a:p>
            <a:pPr algn="ctr"/>
            <a:r>
              <a:rPr lang="en-US" sz="10000"/>
              <a:t>🔌</a:t>
            </a:r>
          </a:p>
        </p:txBody>
      </p:sp>
      <p:sp>
        <p:nvSpPr>
          <p:cNvPr id="33" name="TextBox 32">
            <a:extLst>
              <a:ext uri="{FF2B5EF4-FFF2-40B4-BE49-F238E27FC236}">
                <a16:creationId xmlns:a16="http://schemas.microsoft.com/office/drawing/2014/main" id="{0F9F795D-9B00-D988-0F6C-5F3B70C11694}"/>
              </a:ext>
            </a:extLst>
          </p:cNvPr>
          <p:cNvSpPr txBox="1"/>
          <p:nvPr/>
        </p:nvSpPr>
        <p:spPr>
          <a:xfrm>
            <a:off x="8769538" y="7375892"/>
            <a:ext cx="748923" cy="1631216"/>
          </a:xfrm>
          <a:prstGeom prst="rect">
            <a:avLst/>
          </a:prstGeom>
          <a:noFill/>
        </p:spPr>
        <p:txBody>
          <a:bodyPr wrap="square" rtlCol="0">
            <a:spAutoFit/>
          </a:bodyPr>
          <a:lstStyle/>
          <a:p>
            <a:pPr algn="ctr"/>
            <a:r>
              <a:rPr lang="en-US" sz="10000"/>
              <a:t>🗄️</a:t>
            </a:r>
          </a:p>
        </p:txBody>
      </p:sp>
      <p:sp>
        <p:nvSpPr>
          <p:cNvPr id="34" name="TextBox 33">
            <a:extLst>
              <a:ext uri="{FF2B5EF4-FFF2-40B4-BE49-F238E27FC236}">
                <a16:creationId xmlns:a16="http://schemas.microsoft.com/office/drawing/2014/main" id="{3F077F4E-3DB1-6C6D-73E7-25302392983A}"/>
              </a:ext>
            </a:extLst>
          </p:cNvPr>
          <p:cNvSpPr txBox="1"/>
          <p:nvPr/>
        </p:nvSpPr>
        <p:spPr>
          <a:xfrm>
            <a:off x="3787524" y="4822034"/>
            <a:ext cx="2191626" cy="923330"/>
          </a:xfrm>
          <a:prstGeom prst="rect">
            <a:avLst/>
          </a:prstGeom>
          <a:noFill/>
        </p:spPr>
        <p:txBody>
          <a:bodyPr wrap="none" rtlCol="0">
            <a:spAutoFit/>
          </a:bodyPr>
          <a:lstStyle/>
          <a:p>
            <a:r>
              <a:rPr lang="en-US" sz="5400" b="1"/>
              <a:t>Servlet</a:t>
            </a:r>
          </a:p>
        </p:txBody>
      </p:sp>
      <p:cxnSp>
        <p:nvCxnSpPr>
          <p:cNvPr id="36" name="Straight Arrow Connector 35">
            <a:extLst>
              <a:ext uri="{FF2B5EF4-FFF2-40B4-BE49-F238E27FC236}">
                <a16:creationId xmlns:a16="http://schemas.microsoft.com/office/drawing/2014/main" id="{3E087F46-95E5-EF6D-9ABB-E57C1551558A}"/>
              </a:ext>
            </a:extLst>
          </p:cNvPr>
          <p:cNvCxnSpPr>
            <a:stCxn id="25" idx="2"/>
          </p:cNvCxnSpPr>
          <p:nvPr/>
        </p:nvCxnSpPr>
        <p:spPr>
          <a:xfrm flipH="1">
            <a:off x="4883337" y="3726716"/>
            <a:ext cx="2" cy="7413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id="{1DC0C8B6-9BEF-6C1D-1365-84124D3CA7BA}"/>
              </a:ext>
            </a:extLst>
          </p:cNvPr>
          <p:cNvCxnSpPr/>
          <p:nvPr/>
        </p:nvCxnSpPr>
        <p:spPr>
          <a:xfrm flipH="1">
            <a:off x="4883335" y="6340151"/>
            <a:ext cx="2" cy="7413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8" name="Straight Arrow Connector 37">
            <a:extLst>
              <a:ext uri="{FF2B5EF4-FFF2-40B4-BE49-F238E27FC236}">
                <a16:creationId xmlns:a16="http://schemas.microsoft.com/office/drawing/2014/main" id="{19E1857E-CDBF-2F35-AE81-E9C91D51C3EE}"/>
              </a:ext>
            </a:extLst>
          </p:cNvPr>
          <p:cNvCxnSpPr>
            <a:cxnSpLocks/>
          </p:cNvCxnSpPr>
          <p:nvPr/>
        </p:nvCxnSpPr>
        <p:spPr>
          <a:xfrm>
            <a:off x="6400800" y="8191500"/>
            <a:ext cx="1905000" cy="0"/>
          </a:xfrm>
          <a:prstGeom prst="straightConnector1">
            <a:avLst/>
          </a:prstGeom>
          <a:ln>
            <a:headEnd type="arrow" w="med" len="med"/>
            <a:tailEnd type="arrow" w="med" len="med"/>
          </a:ln>
        </p:spPr>
        <p:style>
          <a:lnRef idx="3">
            <a:schemeClr val="dk1"/>
          </a:lnRef>
          <a:fillRef idx="0">
            <a:schemeClr val="dk1"/>
          </a:fillRef>
          <a:effectRef idx="2">
            <a:schemeClr val="dk1"/>
          </a:effectRef>
          <a:fontRef idx="minor">
            <a:schemeClr val="tx1"/>
          </a:fontRef>
        </p:style>
      </p:cxnSp>
      <p:cxnSp>
        <p:nvCxnSpPr>
          <p:cNvPr id="42" name="Straight Arrow Connector 41">
            <a:extLst>
              <a:ext uri="{FF2B5EF4-FFF2-40B4-BE49-F238E27FC236}">
                <a16:creationId xmlns:a16="http://schemas.microsoft.com/office/drawing/2014/main" id="{A9403674-E9EE-7E26-D65D-F77A98C54C2C}"/>
              </a:ext>
            </a:extLst>
          </p:cNvPr>
          <p:cNvCxnSpPr>
            <a:cxnSpLocks/>
          </p:cNvCxnSpPr>
          <p:nvPr/>
        </p:nvCxnSpPr>
        <p:spPr>
          <a:xfrm>
            <a:off x="6553200" y="5283699"/>
            <a:ext cx="160020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50" name="TextBox 49">
            <a:extLst>
              <a:ext uri="{FF2B5EF4-FFF2-40B4-BE49-F238E27FC236}">
                <a16:creationId xmlns:a16="http://schemas.microsoft.com/office/drawing/2014/main" id="{F0344DC7-A885-BDF6-B1B1-1C298DE405FB}"/>
              </a:ext>
            </a:extLst>
          </p:cNvPr>
          <p:cNvSpPr txBox="1"/>
          <p:nvPr/>
        </p:nvSpPr>
        <p:spPr>
          <a:xfrm>
            <a:off x="4038600" y="8489598"/>
            <a:ext cx="902811" cy="523220"/>
          </a:xfrm>
          <a:prstGeom prst="rect">
            <a:avLst/>
          </a:prstGeom>
          <a:noFill/>
        </p:spPr>
        <p:txBody>
          <a:bodyPr wrap="none" rtlCol="0">
            <a:spAutoFit/>
          </a:bodyPr>
          <a:lstStyle/>
          <a:p>
            <a:r>
              <a:rPr lang="en-US" sz="2800" i="1">
                <a:solidFill>
                  <a:schemeClr val="accent6">
                    <a:lumMod val="75000"/>
                  </a:schemeClr>
                </a:solidFill>
              </a:rPr>
              <a:t>JDBC</a:t>
            </a:r>
          </a:p>
        </p:txBody>
      </p:sp>
      <p:sp>
        <p:nvSpPr>
          <p:cNvPr id="54" name="TextBox 53">
            <a:extLst>
              <a:ext uri="{FF2B5EF4-FFF2-40B4-BE49-F238E27FC236}">
                <a16:creationId xmlns:a16="http://schemas.microsoft.com/office/drawing/2014/main" id="{92FB13BF-768E-9F02-B833-C0BDCB48CAA9}"/>
              </a:ext>
            </a:extLst>
          </p:cNvPr>
          <p:cNvSpPr txBox="1"/>
          <p:nvPr/>
        </p:nvSpPr>
        <p:spPr>
          <a:xfrm>
            <a:off x="4377427" y="2506295"/>
            <a:ext cx="1011815" cy="523220"/>
          </a:xfrm>
          <a:prstGeom prst="rect">
            <a:avLst/>
          </a:prstGeom>
          <a:noFill/>
        </p:spPr>
        <p:txBody>
          <a:bodyPr wrap="none" rtlCol="0">
            <a:spAutoFit/>
          </a:bodyPr>
          <a:lstStyle/>
          <a:p>
            <a:r>
              <a:rPr lang="en-US" sz="2800" i="1">
                <a:solidFill>
                  <a:srgbClr val="FF0000"/>
                </a:solidFill>
              </a:rPr>
              <a:t>Client</a:t>
            </a:r>
          </a:p>
        </p:txBody>
      </p:sp>
      <p:sp>
        <p:nvSpPr>
          <p:cNvPr id="55" name="TextBox 54">
            <a:extLst>
              <a:ext uri="{FF2B5EF4-FFF2-40B4-BE49-F238E27FC236}">
                <a16:creationId xmlns:a16="http://schemas.microsoft.com/office/drawing/2014/main" id="{F5D4892E-29E1-4D22-89F8-CD2EB71F369A}"/>
              </a:ext>
            </a:extLst>
          </p:cNvPr>
          <p:cNvSpPr txBox="1"/>
          <p:nvPr/>
        </p:nvSpPr>
        <p:spPr>
          <a:xfrm>
            <a:off x="10147445" y="4762500"/>
            <a:ext cx="646331" cy="523220"/>
          </a:xfrm>
          <a:prstGeom prst="rect">
            <a:avLst/>
          </a:prstGeom>
          <a:noFill/>
        </p:spPr>
        <p:txBody>
          <a:bodyPr wrap="none" rtlCol="0">
            <a:spAutoFit/>
          </a:bodyPr>
          <a:lstStyle/>
          <a:p>
            <a:r>
              <a:rPr lang="en-US" sz="2800" i="1">
                <a:solidFill>
                  <a:srgbClr val="00B050"/>
                </a:solidFill>
              </a:rPr>
              <a:t>JSP</a:t>
            </a:r>
          </a:p>
        </p:txBody>
      </p:sp>
      <p:sp>
        <p:nvSpPr>
          <p:cNvPr id="56" name="TextBox 55">
            <a:extLst>
              <a:ext uri="{FF2B5EF4-FFF2-40B4-BE49-F238E27FC236}">
                <a16:creationId xmlns:a16="http://schemas.microsoft.com/office/drawing/2014/main" id="{38E534FE-64EC-8453-D218-A5BAFECCECCC}"/>
              </a:ext>
            </a:extLst>
          </p:cNvPr>
          <p:cNvSpPr txBox="1"/>
          <p:nvPr/>
        </p:nvSpPr>
        <p:spPr>
          <a:xfrm>
            <a:off x="9705032" y="7966378"/>
            <a:ext cx="1724968" cy="523220"/>
          </a:xfrm>
          <a:prstGeom prst="rect">
            <a:avLst/>
          </a:prstGeom>
          <a:noFill/>
        </p:spPr>
        <p:txBody>
          <a:bodyPr wrap="square" rtlCol="0">
            <a:spAutoFit/>
          </a:bodyPr>
          <a:lstStyle/>
          <a:p>
            <a:r>
              <a:rPr lang="en-US" sz="2800" i="1">
                <a:solidFill>
                  <a:schemeClr val="tx2">
                    <a:lumMod val="75000"/>
                  </a:schemeClr>
                </a:solidFill>
              </a:rPr>
              <a:t>Database</a:t>
            </a:r>
          </a:p>
        </p:txBody>
      </p:sp>
      <p:sp>
        <p:nvSpPr>
          <p:cNvPr id="57" name="TextBox 56">
            <a:extLst>
              <a:ext uri="{FF2B5EF4-FFF2-40B4-BE49-F238E27FC236}">
                <a16:creationId xmlns:a16="http://schemas.microsoft.com/office/drawing/2014/main" id="{36ECEE69-CEC6-46CF-DC2B-AAB13AF3F1B1}"/>
              </a:ext>
            </a:extLst>
          </p:cNvPr>
          <p:cNvSpPr txBox="1"/>
          <p:nvPr/>
        </p:nvSpPr>
        <p:spPr>
          <a:xfrm>
            <a:off x="11665139" y="3238500"/>
            <a:ext cx="5479853" cy="5157181"/>
          </a:xfrm>
          <a:prstGeom prst="rect">
            <a:avLst/>
          </a:prstGeom>
          <a:noFill/>
        </p:spPr>
        <p:txBody>
          <a:bodyPr wrap="square" rtlCol="0">
            <a:spAutoFit/>
          </a:bodyPr>
          <a:lstStyle/>
          <a:p>
            <a:pPr marL="457200" indent="-457200">
              <a:lnSpc>
                <a:spcPct val="200000"/>
              </a:lnSpc>
              <a:buFont typeface="+mj-lt"/>
              <a:buAutoNum type="arabicPeriod"/>
            </a:pPr>
            <a:r>
              <a:rPr lang="vi-VN" sz="2400">
                <a:ln w="0"/>
                <a:solidFill>
                  <a:srgbClr val="FF0000"/>
                </a:solidFill>
                <a:effectLst>
                  <a:outerShdw blurRad="38100" dist="25400" dir="5400000" algn="ctr" rotWithShape="0">
                    <a:srgbClr val="6E747A">
                      <a:alpha val="43000"/>
                    </a:srgbClr>
                  </a:outerShdw>
                </a:effectLst>
              </a:rPr>
              <a:t>Client gửi yêu cầu đến Servlet</a:t>
            </a:r>
            <a:endParaRPr lang="en-US" sz="2400">
              <a:ln w="0"/>
              <a:solidFill>
                <a:srgbClr val="FF0000"/>
              </a:solidFill>
              <a:effectLst>
                <a:outerShdw blurRad="38100" dist="25400" dir="5400000" algn="ctr" rotWithShape="0">
                  <a:srgbClr val="6E747A">
                    <a:alpha val="43000"/>
                  </a:srgbClr>
                </a:outerShdw>
              </a:effectLst>
            </a:endParaRPr>
          </a:p>
          <a:p>
            <a:pPr marL="457200" indent="-457200">
              <a:lnSpc>
                <a:spcPct val="200000"/>
              </a:lnSpc>
              <a:buFont typeface="+mj-lt"/>
              <a:buAutoNum type="arabicPeriod"/>
            </a:pPr>
            <a:r>
              <a:rPr lang="vi-VN" sz="2400">
                <a:ln w="0"/>
                <a:solidFill>
                  <a:srgbClr val="FF0000"/>
                </a:solidFill>
                <a:effectLst>
                  <a:outerShdw blurRad="38100" dist="25400" dir="5400000" algn="ctr" rotWithShape="0">
                    <a:srgbClr val="6E747A">
                      <a:alpha val="43000"/>
                    </a:srgbClr>
                  </a:outerShdw>
                </a:effectLst>
              </a:rPr>
              <a:t>Servlet xử lý, gọi JDBC</a:t>
            </a:r>
            <a:endParaRPr lang="en-US" sz="2400">
              <a:ln w="0"/>
              <a:solidFill>
                <a:srgbClr val="FF0000"/>
              </a:solidFill>
              <a:effectLst>
                <a:outerShdw blurRad="38100" dist="25400" dir="5400000" algn="ctr" rotWithShape="0">
                  <a:srgbClr val="6E747A">
                    <a:alpha val="43000"/>
                  </a:srgbClr>
                </a:outerShdw>
              </a:effectLst>
            </a:endParaRPr>
          </a:p>
          <a:p>
            <a:pPr marL="457200" indent="-457200">
              <a:lnSpc>
                <a:spcPct val="200000"/>
              </a:lnSpc>
              <a:buFont typeface="+mj-lt"/>
              <a:buAutoNum type="arabicPeriod"/>
            </a:pPr>
            <a:r>
              <a:rPr lang="vi-VN" sz="2400">
                <a:ln w="0"/>
                <a:solidFill>
                  <a:srgbClr val="FF0000"/>
                </a:solidFill>
                <a:effectLst>
                  <a:outerShdw blurRad="38100" dist="25400" dir="5400000" algn="ctr" rotWithShape="0">
                    <a:srgbClr val="6E747A">
                      <a:alpha val="43000"/>
                    </a:srgbClr>
                  </a:outerShdw>
                </a:effectLst>
              </a:rPr>
              <a:t>JDBC truy vấn và nhận dữ liệu từ Database</a:t>
            </a:r>
            <a:endParaRPr lang="en-US" sz="2400">
              <a:ln w="0"/>
              <a:solidFill>
                <a:srgbClr val="FF0000"/>
              </a:solidFill>
              <a:effectLst>
                <a:outerShdw blurRad="38100" dist="25400" dir="5400000" algn="ctr" rotWithShape="0">
                  <a:srgbClr val="6E747A">
                    <a:alpha val="43000"/>
                  </a:srgbClr>
                </a:outerShdw>
              </a:effectLst>
            </a:endParaRPr>
          </a:p>
          <a:p>
            <a:pPr marL="457200" indent="-457200">
              <a:lnSpc>
                <a:spcPct val="200000"/>
              </a:lnSpc>
              <a:buFont typeface="+mj-lt"/>
              <a:buAutoNum type="arabicPeriod"/>
            </a:pPr>
            <a:r>
              <a:rPr lang="vi-VN" sz="2400">
                <a:ln w="0"/>
                <a:solidFill>
                  <a:srgbClr val="FF0000"/>
                </a:solidFill>
                <a:effectLst>
                  <a:outerShdw blurRad="38100" dist="25400" dir="5400000" algn="ctr" rotWithShape="0">
                    <a:srgbClr val="6E747A">
                      <a:alpha val="43000"/>
                    </a:srgbClr>
                  </a:outerShdw>
                </a:effectLst>
              </a:rPr>
              <a:t>JDBC trả dữ liệu cho Servlet</a:t>
            </a:r>
            <a:endParaRPr lang="en-US" sz="2400">
              <a:ln w="0"/>
              <a:solidFill>
                <a:srgbClr val="FF0000"/>
              </a:solidFill>
              <a:effectLst>
                <a:outerShdw blurRad="38100" dist="25400" dir="5400000" algn="ctr" rotWithShape="0">
                  <a:srgbClr val="6E747A">
                    <a:alpha val="43000"/>
                  </a:srgbClr>
                </a:outerShdw>
              </a:effectLst>
            </a:endParaRPr>
          </a:p>
          <a:p>
            <a:pPr marL="457200" indent="-457200">
              <a:lnSpc>
                <a:spcPct val="200000"/>
              </a:lnSpc>
              <a:buFont typeface="+mj-lt"/>
              <a:buAutoNum type="arabicPeriod"/>
            </a:pPr>
            <a:r>
              <a:rPr lang="vi-VN" sz="2400">
                <a:ln w="0"/>
                <a:solidFill>
                  <a:srgbClr val="FF0000"/>
                </a:solidFill>
                <a:effectLst>
                  <a:outerShdw blurRad="38100" dist="25400" dir="5400000" algn="ctr" rotWithShape="0">
                    <a:srgbClr val="6E747A">
                      <a:alpha val="43000"/>
                    </a:srgbClr>
                  </a:outerShdw>
                </a:effectLst>
              </a:rPr>
              <a:t>Servlet chuyển dữ liệu sang JSP</a:t>
            </a:r>
            <a:endParaRPr lang="en-US" sz="2400">
              <a:ln w="0"/>
              <a:solidFill>
                <a:srgbClr val="FF0000"/>
              </a:solidFill>
              <a:effectLst>
                <a:outerShdw blurRad="38100" dist="25400" dir="5400000" algn="ctr" rotWithShape="0">
                  <a:srgbClr val="6E747A">
                    <a:alpha val="43000"/>
                  </a:srgbClr>
                </a:outerShdw>
              </a:effectLst>
            </a:endParaRPr>
          </a:p>
          <a:p>
            <a:pPr marL="457200" indent="-457200">
              <a:lnSpc>
                <a:spcPct val="200000"/>
              </a:lnSpc>
              <a:buFont typeface="+mj-lt"/>
              <a:buAutoNum type="arabicPeriod"/>
            </a:pPr>
            <a:r>
              <a:rPr lang="vi-VN" sz="2400">
                <a:ln w="0"/>
                <a:solidFill>
                  <a:srgbClr val="FF0000"/>
                </a:solidFill>
                <a:effectLst>
                  <a:outerShdw blurRad="38100" dist="25400" dir="5400000" algn="ctr" rotWithShape="0">
                    <a:srgbClr val="6E747A">
                      <a:alpha val="43000"/>
                    </a:srgbClr>
                  </a:outerShdw>
                </a:effectLst>
              </a:rPr>
              <a:t>JSP hiển thị kết quả và trả về Client</a:t>
            </a:r>
            <a:endParaRPr lang="en-US" sz="2400">
              <a:ln w="0"/>
              <a:solidFill>
                <a:srgbClr val="FF0000"/>
              </a:solidFill>
              <a:effectLst>
                <a:outerShdw blurRad="38100" dist="25400" dir="5400000" algn="ctr" rotWithShape="0">
                  <a:srgbClr val="6E747A">
                    <a:alpha val="43000"/>
                  </a:srgbClr>
                </a:outerShdw>
              </a:effectLst>
            </a:endParaRPr>
          </a:p>
        </p:txBody>
      </p:sp>
      <p:cxnSp>
        <p:nvCxnSpPr>
          <p:cNvPr id="59" name="Straight Arrow Connector 58">
            <a:extLst>
              <a:ext uri="{FF2B5EF4-FFF2-40B4-BE49-F238E27FC236}">
                <a16:creationId xmlns:a16="http://schemas.microsoft.com/office/drawing/2014/main" id="{7A4D353C-38EA-594A-E095-C98464A94AF9}"/>
              </a:ext>
            </a:extLst>
          </p:cNvPr>
          <p:cNvCxnSpPr>
            <a:cxnSpLocks/>
          </p:cNvCxnSpPr>
          <p:nvPr/>
        </p:nvCxnSpPr>
        <p:spPr>
          <a:xfrm flipV="1">
            <a:off x="5093811" y="6340151"/>
            <a:ext cx="0" cy="74137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84" name="Connector: Elbow 83">
            <a:extLst>
              <a:ext uri="{FF2B5EF4-FFF2-40B4-BE49-F238E27FC236}">
                <a16:creationId xmlns:a16="http://schemas.microsoft.com/office/drawing/2014/main" id="{AEED2189-D913-4A7A-BBE1-B4E24E96872A}"/>
              </a:ext>
            </a:extLst>
          </p:cNvPr>
          <p:cNvCxnSpPr>
            <a:cxnSpLocks/>
          </p:cNvCxnSpPr>
          <p:nvPr/>
        </p:nvCxnSpPr>
        <p:spPr>
          <a:xfrm rot="10800000">
            <a:off x="6187806" y="2767908"/>
            <a:ext cx="1965594" cy="1843897"/>
          </a:xfrm>
          <a:prstGeom prst="bentConnector3">
            <a:avLst>
              <a:gd name="adj1" fmla="val 50000"/>
            </a:avLst>
          </a:prstGeom>
          <a:ln>
            <a:headEnd type="none" w="med" len="med"/>
            <a:tailEnd type="arrow" w="med" len="med"/>
          </a:ln>
        </p:spPr>
        <p:style>
          <a:lnRef idx="3">
            <a:schemeClr val="dk1"/>
          </a:lnRef>
          <a:fillRef idx="0">
            <a:schemeClr val="dk1"/>
          </a:fillRef>
          <a:effectRef idx="2">
            <a:schemeClr val="dk1"/>
          </a:effectRef>
          <a:fontRef idx="minor">
            <a:schemeClr val="tx1"/>
          </a:fontRef>
        </p:style>
      </p:cxnSp>
      <p:sp>
        <p:nvSpPr>
          <p:cNvPr id="94" name="Oval 93">
            <a:extLst>
              <a:ext uri="{FF2B5EF4-FFF2-40B4-BE49-F238E27FC236}">
                <a16:creationId xmlns:a16="http://schemas.microsoft.com/office/drawing/2014/main" id="{39A368F6-2103-2609-0513-71A3F8A8370C}"/>
              </a:ext>
            </a:extLst>
          </p:cNvPr>
          <p:cNvSpPr/>
          <p:nvPr/>
        </p:nvSpPr>
        <p:spPr>
          <a:xfrm>
            <a:off x="4295258" y="3892812"/>
            <a:ext cx="304796" cy="3047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1</a:t>
            </a:r>
          </a:p>
        </p:txBody>
      </p:sp>
      <p:sp>
        <p:nvSpPr>
          <p:cNvPr id="95" name="Oval 94">
            <a:extLst>
              <a:ext uri="{FF2B5EF4-FFF2-40B4-BE49-F238E27FC236}">
                <a16:creationId xmlns:a16="http://schemas.microsoft.com/office/drawing/2014/main" id="{968768D1-F59A-5855-0D43-8DEBB06A2561}"/>
              </a:ext>
            </a:extLst>
          </p:cNvPr>
          <p:cNvSpPr/>
          <p:nvPr/>
        </p:nvSpPr>
        <p:spPr>
          <a:xfrm>
            <a:off x="4142858" y="6519980"/>
            <a:ext cx="304796" cy="3047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2</a:t>
            </a:r>
          </a:p>
        </p:txBody>
      </p:sp>
      <p:sp>
        <p:nvSpPr>
          <p:cNvPr id="96" name="Oval 95">
            <a:extLst>
              <a:ext uri="{FF2B5EF4-FFF2-40B4-BE49-F238E27FC236}">
                <a16:creationId xmlns:a16="http://schemas.microsoft.com/office/drawing/2014/main" id="{B7AAA7D3-87C6-40EF-1546-E28B3BDB8991}"/>
              </a:ext>
            </a:extLst>
          </p:cNvPr>
          <p:cNvSpPr/>
          <p:nvPr/>
        </p:nvSpPr>
        <p:spPr>
          <a:xfrm>
            <a:off x="7353300" y="8558599"/>
            <a:ext cx="304796" cy="3047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3</a:t>
            </a:r>
          </a:p>
        </p:txBody>
      </p:sp>
      <p:sp>
        <p:nvSpPr>
          <p:cNvPr id="97" name="Oval 96">
            <a:extLst>
              <a:ext uri="{FF2B5EF4-FFF2-40B4-BE49-F238E27FC236}">
                <a16:creationId xmlns:a16="http://schemas.microsoft.com/office/drawing/2014/main" id="{CF549183-33D4-B0DC-1CB3-732EA64D5BF3}"/>
              </a:ext>
            </a:extLst>
          </p:cNvPr>
          <p:cNvSpPr/>
          <p:nvPr/>
        </p:nvSpPr>
        <p:spPr>
          <a:xfrm>
            <a:off x="5396710" y="6519663"/>
            <a:ext cx="304796" cy="3047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4</a:t>
            </a:r>
          </a:p>
        </p:txBody>
      </p:sp>
      <p:sp>
        <p:nvSpPr>
          <p:cNvPr id="98" name="Oval 97">
            <a:extLst>
              <a:ext uri="{FF2B5EF4-FFF2-40B4-BE49-F238E27FC236}">
                <a16:creationId xmlns:a16="http://schemas.microsoft.com/office/drawing/2014/main" id="{4C6BF64E-8980-A616-CC19-3CBC402E60AD}"/>
              </a:ext>
            </a:extLst>
          </p:cNvPr>
          <p:cNvSpPr/>
          <p:nvPr/>
        </p:nvSpPr>
        <p:spPr>
          <a:xfrm>
            <a:off x="7289179" y="5523311"/>
            <a:ext cx="304796" cy="3047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5</a:t>
            </a:r>
          </a:p>
        </p:txBody>
      </p:sp>
      <p:sp>
        <p:nvSpPr>
          <p:cNvPr id="99" name="Oval 98">
            <a:extLst>
              <a:ext uri="{FF2B5EF4-FFF2-40B4-BE49-F238E27FC236}">
                <a16:creationId xmlns:a16="http://schemas.microsoft.com/office/drawing/2014/main" id="{4DD2F3E4-A619-8B41-E69A-A3B0986CB723}"/>
              </a:ext>
            </a:extLst>
          </p:cNvPr>
          <p:cNvSpPr/>
          <p:nvPr/>
        </p:nvSpPr>
        <p:spPr>
          <a:xfrm>
            <a:off x="7593975" y="3409227"/>
            <a:ext cx="304796" cy="304796"/>
          </a:xfrm>
          <a:prstGeom prst="ellipse">
            <a:avLst/>
          </a:prstGeom>
        </p:spPr>
        <p:style>
          <a:lnRef idx="1">
            <a:schemeClr val="accent2"/>
          </a:lnRef>
          <a:fillRef idx="3">
            <a:schemeClr val="accent2"/>
          </a:fillRef>
          <a:effectRef idx="2">
            <a:schemeClr val="accent2"/>
          </a:effectRef>
          <a:fontRef idx="minor">
            <a:schemeClr val="lt1"/>
          </a:fontRef>
        </p:style>
        <p:txBody>
          <a:bodyPr rtlCol="0" anchor="ctr"/>
          <a:lstStyle/>
          <a:p>
            <a:pPr algn="ctr"/>
            <a:r>
              <a:rPr lang="en-US"/>
              <a:t>6</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48EEA-BCEA-BD61-5D54-FD6BA1343CFD}"/>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C29DFC0C-C806-821A-BBC8-7B398F29B89B}"/>
              </a:ext>
            </a:extLst>
          </p:cNvPr>
          <p:cNvSpPr txBox="1"/>
          <p:nvPr/>
        </p:nvSpPr>
        <p:spPr>
          <a:xfrm>
            <a:off x="2057401" y="1314944"/>
            <a:ext cx="14020800" cy="974626"/>
          </a:xfrm>
          <a:prstGeom prst="rect">
            <a:avLst/>
          </a:prstGeom>
        </p:spPr>
        <p:txBody>
          <a:bodyPr lIns="0" tIns="0" rIns="0" bIns="0" rtlCol="0" anchor="t">
            <a:spAutoFit/>
          </a:bodyPr>
          <a:lstStyle/>
          <a:p>
            <a:pPr algn="ctr">
              <a:lnSpc>
                <a:spcPts val="7589"/>
              </a:lnSpc>
            </a:pPr>
            <a:r>
              <a:rPr lang="en-US" sz="6899" b="1">
                <a:ln w="22225">
                  <a:solidFill>
                    <a:schemeClr val="accent1"/>
                  </a:solidFill>
                  <a:prstDash val="solid"/>
                </a:ln>
                <a:solidFill>
                  <a:schemeClr val="accent5"/>
                </a:solidFill>
                <a:effectLst>
                  <a:reflection blurRad="6350" stA="60000" endA="900" endPos="58000" dir="5400000" sy="-100000" algn="bl" rotWithShape="0"/>
                </a:effectLst>
                <a:latin typeface="Inter Bold"/>
                <a:ea typeface="Inter Bold"/>
                <a:cs typeface="Inter Bold"/>
                <a:sym typeface="Inter Bold"/>
              </a:rPr>
              <a:t>So sánh với các công nghệ khác</a:t>
            </a:r>
          </a:p>
        </p:txBody>
      </p:sp>
      <p:graphicFrame>
        <p:nvGraphicFramePr>
          <p:cNvPr id="23" name="Table 22">
            <a:extLst>
              <a:ext uri="{FF2B5EF4-FFF2-40B4-BE49-F238E27FC236}">
                <a16:creationId xmlns:a16="http://schemas.microsoft.com/office/drawing/2014/main" id="{858F5D19-0BE9-824F-37FE-3DC9C54D53EA}"/>
              </a:ext>
            </a:extLst>
          </p:cNvPr>
          <p:cNvGraphicFramePr>
            <a:graphicFrameLocks noGrp="1"/>
          </p:cNvGraphicFramePr>
          <p:nvPr>
            <p:extLst>
              <p:ext uri="{D42A27DB-BD31-4B8C-83A1-F6EECF244321}">
                <p14:modId xmlns:p14="http://schemas.microsoft.com/office/powerpoint/2010/main" val="2237995468"/>
              </p:ext>
            </p:extLst>
          </p:nvPr>
        </p:nvGraphicFramePr>
        <p:xfrm>
          <a:off x="1752600" y="3467100"/>
          <a:ext cx="15392400" cy="5029200"/>
        </p:xfrm>
        <a:graphic>
          <a:graphicData uri="http://schemas.openxmlformats.org/drawingml/2006/table">
            <a:tbl>
              <a:tblPr firstRow="1" bandRow="1">
                <a:tableStyleId>{7DF18680-E054-41AD-8BC1-D1AEF772440D}</a:tableStyleId>
              </a:tblPr>
              <a:tblGrid>
                <a:gridCol w="3848100">
                  <a:extLst>
                    <a:ext uri="{9D8B030D-6E8A-4147-A177-3AD203B41FA5}">
                      <a16:colId xmlns:a16="http://schemas.microsoft.com/office/drawing/2014/main" val="1948767294"/>
                    </a:ext>
                  </a:extLst>
                </a:gridCol>
                <a:gridCol w="3848100">
                  <a:extLst>
                    <a:ext uri="{9D8B030D-6E8A-4147-A177-3AD203B41FA5}">
                      <a16:colId xmlns:a16="http://schemas.microsoft.com/office/drawing/2014/main" val="23055816"/>
                    </a:ext>
                  </a:extLst>
                </a:gridCol>
                <a:gridCol w="3848100">
                  <a:extLst>
                    <a:ext uri="{9D8B030D-6E8A-4147-A177-3AD203B41FA5}">
                      <a16:colId xmlns:a16="http://schemas.microsoft.com/office/drawing/2014/main" val="2366113932"/>
                    </a:ext>
                  </a:extLst>
                </a:gridCol>
                <a:gridCol w="3848100">
                  <a:extLst>
                    <a:ext uri="{9D8B030D-6E8A-4147-A177-3AD203B41FA5}">
                      <a16:colId xmlns:a16="http://schemas.microsoft.com/office/drawing/2014/main" val="1222336992"/>
                    </a:ext>
                  </a:extLst>
                </a:gridCol>
              </a:tblGrid>
              <a:tr h="1005840">
                <a:tc>
                  <a:txBody>
                    <a:bodyPr/>
                    <a:lstStyle/>
                    <a:p>
                      <a:pPr algn="ctr"/>
                      <a:r>
                        <a:rPr lang="en-US" sz="3300"/>
                        <a:t>Tiêu chí</a:t>
                      </a:r>
                    </a:p>
                  </a:txBody>
                  <a:tcPr marL="107722" marR="107722" marT="53861" marB="53861" anchor="ctr"/>
                </a:tc>
                <a:tc>
                  <a:txBody>
                    <a:bodyPr/>
                    <a:lstStyle/>
                    <a:p>
                      <a:pPr algn="ctr"/>
                      <a:r>
                        <a:rPr lang="en-US" sz="3300"/>
                        <a:t>JSP/Servlet/JDBC</a:t>
                      </a:r>
                    </a:p>
                  </a:txBody>
                  <a:tcPr marL="107722" marR="107722" marT="53861" marB="53861" anchor="ctr"/>
                </a:tc>
                <a:tc>
                  <a:txBody>
                    <a:bodyPr/>
                    <a:lstStyle/>
                    <a:p>
                      <a:pPr algn="ctr"/>
                      <a:r>
                        <a:rPr lang="en-US" sz="3300"/>
                        <a:t>PHP</a:t>
                      </a:r>
                    </a:p>
                  </a:txBody>
                  <a:tcPr marL="107722" marR="107722" marT="53861" marB="53861" anchor="ctr"/>
                </a:tc>
                <a:tc>
                  <a:txBody>
                    <a:bodyPr/>
                    <a:lstStyle/>
                    <a:p>
                      <a:pPr algn="ctr"/>
                      <a:r>
                        <a:rPr lang="en-US" sz="3300"/>
                        <a:t>Node.js</a:t>
                      </a:r>
                    </a:p>
                  </a:txBody>
                  <a:tcPr marL="107722" marR="107722" marT="53861" marB="53861" anchor="ctr"/>
                </a:tc>
                <a:extLst>
                  <a:ext uri="{0D108BD9-81ED-4DB2-BD59-A6C34878D82A}">
                    <a16:rowId xmlns:a16="http://schemas.microsoft.com/office/drawing/2014/main" val="2176212944"/>
                  </a:ext>
                </a:extLst>
              </a:tr>
              <a:tr h="1005840">
                <a:tc>
                  <a:txBody>
                    <a:bodyPr/>
                    <a:lstStyle/>
                    <a:p>
                      <a:pPr algn="ctr"/>
                      <a:r>
                        <a:rPr lang="en-US" sz="3300" b="1"/>
                        <a:t>Ngôn ngữ</a:t>
                      </a:r>
                      <a:endParaRPr lang="en-US" sz="3300"/>
                    </a:p>
                  </a:txBody>
                  <a:tcPr marL="107722" marR="107722" marT="53861" marB="53861" anchor="ctr"/>
                </a:tc>
                <a:tc>
                  <a:txBody>
                    <a:bodyPr/>
                    <a:lstStyle/>
                    <a:p>
                      <a:pPr algn="ctr"/>
                      <a:r>
                        <a:rPr lang="en-US" sz="3300"/>
                        <a:t>Java</a:t>
                      </a:r>
                    </a:p>
                  </a:txBody>
                  <a:tcPr marL="107722" marR="107722" marT="53861" marB="53861" anchor="ctr"/>
                </a:tc>
                <a:tc>
                  <a:txBody>
                    <a:bodyPr/>
                    <a:lstStyle/>
                    <a:p>
                      <a:pPr algn="ctr"/>
                      <a:r>
                        <a:rPr lang="en-US" sz="3300"/>
                        <a:t>PHP</a:t>
                      </a:r>
                    </a:p>
                  </a:txBody>
                  <a:tcPr marL="107722" marR="107722" marT="53861" marB="53861" anchor="ctr"/>
                </a:tc>
                <a:tc>
                  <a:txBody>
                    <a:bodyPr/>
                    <a:lstStyle/>
                    <a:p>
                      <a:pPr algn="ctr"/>
                      <a:r>
                        <a:rPr lang="en-US" sz="3300"/>
                        <a:t>JavaScript</a:t>
                      </a:r>
                    </a:p>
                  </a:txBody>
                  <a:tcPr marL="107722" marR="107722" marT="53861" marB="53861" anchor="ctr"/>
                </a:tc>
                <a:extLst>
                  <a:ext uri="{0D108BD9-81ED-4DB2-BD59-A6C34878D82A}">
                    <a16:rowId xmlns:a16="http://schemas.microsoft.com/office/drawing/2014/main" val="538159257"/>
                  </a:ext>
                </a:extLst>
              </a:tr>
              <a:tr h="1005840">
                <a:tc>
                  <a:txBody>
                    <a:bodyPr/>
                    <a:lstStyle/>
                    <a:p>
                      <a:pPr algn="ctr"/>
                      <a:r>
                        <a:rPr lang="en-US" sz="3300" b="1"/>
                        <a:t>Hỗ trợ MVC</a:t>
                      </a:r>
                      <a:endParaRPr lang="en-US" sz="3300"/>
                    </a:p>
                  </a:txBody>
                  <a:tcPr marL="107722" marR="107722" marT="53861" marB="53861" anchor="ctr"/>
                </a:tc>
                <a:tc>
                  <a:txBody>
                    <a:bodyPr/>
                    <a:lstStyle/>
                    <a:p>
                      <a:pPr algn="ctr"/>
                      <a:r>
                        <a:rPr lang="en-US" sz="3300"/>
                        <a:t>⭐ Tốt</a:t>
                      </a:r>
                    </a:p>
                  </a:txBody>
                  <a:tcPr marL="107722" marR="107722" marT="53861" marB="53861" anchor="ctr"/>
                </a:tc>
                <a:tc>
                  <a:txBody>
                    <a:bodyPr/>
                    <a:lstStyle/>
                    <a:p>
                      <a:pPr algn="ctr"/>
                      <a:r>
                        <a:rPr lang="en-US" sz="3300"/>
                        <a:t>Có</a:t>
                      </a:r>
                    </a:p>
                  </a:txBody>
                  <a:tcPr marL="107722" marR="107722" marT="53861" marB="53861" anchor="ctr"/>
                </a:tc>
                <a:tc>
                  <a:txBody>
                    <a:bodyPr/>
                    <a:lstStyle/>
                    <a:p>
                      <a:pPr algn="ctr"/>
                      <a:r>
                        <a:rPr lang="en-US" sz="3300"/>
                        <a:t>Có</a:t>
                      </a:r>
                    </a:p>
                  </a:txBody>
                  <a:tcPr marL="107722" marR="107722" marT="53861" marB="53861" anchor="ctr"/>
                </a:tc>
                <a:extLst>
                  <a:ext uri="{0D108BD9-81ED-4DB2-BD59-A6C34878D82A}">
                    <a16:rowId xmlns:a16="http://schemas.microsoft.com/office/drawing/2014/main" val="2069190623"/>
                  </a:ext>
                </a:extLst>
              </a:tr>
              <a:tr h="1005840">
                <a:tc>
                  <a:txBody>
                    <a:bodyPr/>
                    <a:lstStyle/>
                    <a:p>
                      <a:pPr algn="ctr"/>
                      <a:r>
                        <a:rPr lang="en-US" sz="3300" b="1"/>
                        <a:t>Hiệu suất</a:t>
                      </a:r>
                      <a:endParaRPr lang="en-US" sz="3300"/>
                    </a:p>
                  </a:txBody>
                  <a:tcPr marL="107722" marR="107722" marT="53861" marB="53861" anchor="ctr"/>
                </a:tc>
                <a:tc>
                  <a:txBody>
                    <a:bodyPr/>
                    <a:lstStyle/>
                    <a:p>
                      <a:pPr algn="ctr"/>
                      <a:r>
                        <a:rPr lang="en-US" sz="3300"/>
                        <a:t>⭐ Cao</a:t>
                      </a:r>
                    </a:p>
                  </a:txBody>
                  <a:tcPr marL="107722" marR="107722" marT="53861" marB="53861" anchor="ctr"/>
                </a:tc>
                <a:tc>
                  <a:txBody>
                    <a:bodyPr/>
                    <a:lstStyle/>
                    <a:p>
                      <a:pPr algn="ctr"/>
                      <a:r>
                        <a:rPr lang="en-US" sz="3300"/>
                        <a:t>Trung bình</a:t>
                      </a:r>
                    </a:p>
                  </a:txBody>
                  <a:tcPr marL="107722" marR="107722" marT="53861" marB="53861" anchor="ctr"/>
                </a:tc>
                <a:tc>
                  <a:txBody>
                    <a:bodyPr/>
                    <a:lstStyle/>
                    <a:p>
                      <a:pPr algn="ctr"/>
                      <a:r>
                        <a:rPr lang="en-US" sz="3300"/>
                        <a:t>⭐ Cao</a:t>
                      </a:r>
                    </a:p>
                  </a:txBody>
                  <a:tcPr marL="107722" marR="107722" marT="53861" marB="53861" anchor="ctr"/>
                </a:tc>
                <a:extLst>
                  <a:ext uri="{0D108BD9-81ED-4DB2-BD59-A6C34878D82A}">
                    <a16:rowId xmlns:a16="http://schemas.microsoft.com/office/drawing/2014/main" val="932711745"/>
                  </a:ext>
                </a:extLst>
              </a:tr>
              <a:tr h="1005840">
                <a:tc>
                  <a:txBody>
                    <a:bodyPr/>
                    <a:lstStyle/>
                    <a:p>
                      <a:pPr algn="ctr"/>
                      <a:r>
                        <a:rPr lang="en-US" sz="3300" b="1"/>
                        <a:t>Khó dễ học</a:t>
                      </a:r>
                      <a:endParaRPr lang="en-US" sz="3300"/>
                    </a:p>
                  </a:txBody>
                  <a:tcPr marL="107722" marR="107722" marT="53861" marB="53861" anchor="ctr"/>
                </a:tc>
                <a:tc>
                  <a:txBody>
                    <a:bodyPr/>
                    <a:lstStyle/>
                    <a:p>
                      <a:pPr algn="ctr"/>
                      <a:r>
                        <a:rPr lang="en-US" sz="3300"/>
                        <a:t>Trung bình</a:t>
                      </a:r>
                    </a:p>
                  </a:txBody>
                  <a:tcPr marL="107722" marR="107722" marT="53861" marB="53861" anchor="ctr"/>
                </a:tc>
                <a:tc>
                  <a:txBody>
                    <a:bodyPr/>
                    <a:lstStyle/>
                    <a:p>
                      <a:pPr algn="ctr"/>
                      <a:r>
                        <a:rPr lang="en-US" sz="3300"/>
                        <a:t>⭐ Dễ</a:t>
                      </a:r>
                    </a:p>
                  </a:txBody>
                  <a:tcPr marL="107722" marR="107722" marT="53861" marB="53861" anchor="ctr"/>
                </a:tc>
                <a:tc>
                  <a:txBody>
                    <a:bodyPr/>
                    <a:lstStyle/>
                    <a:p>
                      <a:pPr algn="ctr"/>
                      <a:r>
                        <a:rPr lang="en-US" sz="3300"/>
                        <a:t>Trung bình</a:t>
                      </a:r>
                    </a:p>
                  </a:txBody>
                  <a:tcPr marL="107722" marR="107722" marT="53861" marB="53861" anchor="ctr"/>
                </a:tc>
                <a:extLst>
                  <a:ext uri="{0D108BD9-81ED-4DB2-BD59-A6C34878D82A}">
                    <a16:rowId xmlns:a16="http://schemas.microsoft.com/office/drawing/2014/main" val="2568611751"/>
                  </a:ext>
                </a:extLst>
              </a:tr>
            </a:tbl>
          </a:graphicData>
        </a:graphic>
      </p:graphicFrame>
    </p:spTree>
    <p:extLst>
      <p:ext uri="{BB962C8B-B14F-4D97-AF65-F5344CB8AC3E}">
        <p14:creationId xmlns:p14="http://schemas.microsoft.com/office/powerpoint/2010/main" val="3108432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A8293-7A28-9F73-CEE5-E4EA12E6F510}"/>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2829215F-4E8A-B776-E349-B85E1E2D302E}"/>
              </a:ext>
            </a:extLst>
          </p:cNvPr>
          <p:cNvSpPr txBox="1"/>
          <p:nvPr/>
        </p:nvSpPr>
        <p:spPr>
          <a:xfrm>
            <a:off x="3101617" y="1314944"/>
            <a:ext cx="12084767" cy="974626"/>
          </a:xfrm>
          <a:prstGeom prst="rect">
            <a:avLst/>
          </a:prstGeom>
        </p:spPr>
        <p:txBody>
          <a:bodyPr lIns="0" tIns="0" rIns="0" bIns="0" rtlCol="0" anchor="t">
            <a:spAutoFit/>
          </a:bodyPr>
          <a:lstStyle/>
          <a:p>
            <a:pPr algn="ctr">
              <a:lnSpc>
                <a:spcPts val="7589"/>
              </a:lnSpc>
            </a:pPr>
            <a:r>
              <a:rPr lang="en-US" sz="6899" b="1">
                <a:solidFill>
                  <a:srgbClr val="000000"/>
                </a:solidFill>
                <a:latin typeface="Inter Bold"/>
                <a:ea typeface="Inter Bold"/>
                <a:cs typeface="Inter Bold"/>
                <a:sym typeface="Inter Bold"/>
              </a:rPr>
              <a:t>Ứng dụng thực tiễn</a:t>
            </a:r>
          </a:p>
        </p:txBody>
      </p:sp>
      <p:grpSp>
        <p:nvGrpSpPr>
          <p:cNvPr id="5" name="Group 5">
            <a:extLst>
              <a:ext uri="{FF2B5EF4-FFF2-40B4-BE49-F238E27FC236}">
                <a16:creationId xmlns:a16="http://schemas.microsoft.com/office/drawing/2014/main" id="{41D567B9-5732-8BDD-15B5-77D3B69A2864}"/>
              </a:ext>
            </a:extLst>
          </p:cNvPr>
          <p:cNvGrpSpPr/>
          <p:nvPr/>
        </p:nvGrpSpPr>
        <p:grpSpPr>
          <a:xfrm>
            <a:off x="1028700" y="4237626"/>
            <a:ext cx="4877993" cy="5020674"/>
            <a:chOff x="0" y="0"/>
            <a:chExt cx="2188406" cy="2252417"/>
          </a:xfrm>
        </p:grpSpPr>
        <p:sp>
          <p:nvSpPr>
            <p:cNvPr id="6" name="Freeform 6">
              <a:extLst>
                <a:ext uri="{FF2B5EF4-FFF2-40B4-BE49-F238E27FC236}">
                  <a16:creationId xmlns:a16="http://schemas.microsoft.com/office/drawing/2014/main" id="{B229FF2B-2B1A-9A92-D093-7651CF5EBB87}"/>
                </a:ext>
              </a:extLst>
            </p:cNvPr>
            <p:cNvSpPr/>
            <p:nvPr/>
          </p:nvSpPr>
          <p:spPr>
            <a:xfrm>
              <a:off x="0" y="0"/>
              <a:ext cx="2188407" cy="2252417"/>
            </a:xfrm>
            <a:custGeom>
              <a:avLst/>
              <a:gdLst/>
              <a:ahLst/>
              <a:cxnLst/>
              <a:rect l="l" t="t" r="r" b="b"/>
              <a:pathLst>
                <a:path w="2188407" h="2252417">
                  <a:moveTo>
                    <a:pt x="2063946" y="2252417"/>
                  </a:moveTo>
                  <a:lnTo>
                    <a:pt x="124460" y="2252417"/>
                  </a:lnTo>
                  <a:cubicBezTo>
                    <a:pt x="55880" y="2252417"/>
                    <a:pt x="0" y="2196537"/>
                    <a:pt x="0" y="2127957"/>
                  </a:cubicBezTo>
                  <a:lnTo>
                    <a:pt x="0" y="124460"/>
                  </a:lnTo>
                  <a:cubicBezTo>
                    <a:pt x="0" y="55880"/>
                    <a:pt x="55880" y="0"/>
                    <a:pt x="124460" y="0"/>
                  </a:cubicBezTo>
                  <a:lnTo>
                    <a:pt x="2063946" y="0"/>
                  </a:lnTo>
                  <a:cubicBezTo>
                    <a:pt x="2132526" y="0"/>
                    <a:pt x="2188407" y="55880"/>
                    <a:pt x="2188407" y="124460"/>
                  </a:cubicBezTo>
                  <a:lnTo>
                    <a:pt x="2188407" y="2127957"/>
                  </a:lnTo>
                  <a:cubicBezTo>
                    <a:pt x="2188407" y="2196537"/>
                    <a:pt x="2132526" y="2252417"/>
                    <a:pt x="2063946" y="2252417"/>
                  </a:cubicBezTo>
                  <a:close/>
                </a:path>
              </a:pathLst>
            </a:custGeom>
            <a:solidFill>
              <a:srgbClr val="F1F1F1">
                <a:alpha val="63922"/>
              </a:srgbClr>
            </a:solidFill>
          </p:spPr>
        </p:sp>
      </p:grpSp>
      <p:grpSp>
        <p:nvGrpSpPr>
          <p:cNvPr id="7" name="Group 7">
            <a:extLst>
              <a:ext uri="{FF2B5EF4-FFF2-40B4-BE49-F238E27FC236}">
                <a16:creationId xmlns:a16="http://schemas.microsoft.com/office/drawing/2014/main" id="{3CACAF13-640E-C24C-F526-98DA92A1D76F}"/>
              </a:ext>
            </a:extLst>
          </p:cNvPr>
          <p:cNvGrpSpPr/>
          <p:nvPr/>
        </p:nvGrpSpPr>
        <p:grpSpPr>
          <a:xfrm>
            <a:off x="6705003" y="4237626"/>
            <a:ext cx="4877993" cy="5020674"/>
            <a:chOff x="0" y="0"/>
            <a:chExt cx="2188406" cy="2252417"/>
          </a:xfrm>
        </p:grpSpPr>
        <p:sp>
          <p:nvSpPr>
            <p:cNvPr id="8" name="Freeform 8">
              <a:extLst>
                <a:ext uri="{FF2B5EF4-FFF2-40B4-BE49-F238E27FC236}">
                  <a16:creationId xmlns:a16="http://schemas.microsoft.com/office/drawing/2014/main" id="{34AD6B6A-53D2-51A3-D612-95D390F5222C}"/>
                </a:ext>
              </a:extLst>
            </p:cNvPr>
            <p:cNvSpPr/>
            <p:nvPr/>
          </p:nvSpPr>
          <p:spPr>
            <a:xfrm>
              <a:off x="0" y="0"/>
              <a:ext cx="2188407" cy="2252417"/>
            </a:xfrm>
            <a:custGeom>
              <a:avLst/>
              <a:gdLst/>
              <a:ahLst/>
              <a:cxnLst/>
              <a:rect l="l" t="t" r="r" b="b"/>
              <a:pathLst>
                <a:path w="2188407" h="2252417">
                  <a:moveTo>
                    <a:pt x="2063946" y="2252417"/>
                  </a:moveTo>
                  <a:lnTo>
                    <a:pt x="124460" y="2252417"/>
                  </a:lnTo>
                  <a:cubicBezTo>
                    <a:pt x="55880" y="2252417"/>
                    <a:pt x="0" y="2196537"/>
                    <a:pt x="0" y="2127957"/>
                  </a:cubicBezTo>
                  <a:lnTo>
                    <a:pt x="0" y="124460"/>
                  </a:lnTo>
                  <a:cubicBezTo>
                    <a:pt x="0" y="55880"/>
                    <a:pt x="55880" y="0"/>
                    <a:pt x="124460" y="0"/>
                  </a:cubicBezTo>
                  <a:lnTo>
                    <a:pt x="2063946" y="0"/>
                  </a:lnTo>
                  <a:cubicBezTo>
                    <a:pt x="2132526" y="0"/>
                    <a:pt x="2188407" y="55880"/>
                    <a:pt x="2188407" y="124460"/>
                  </a:cubicBezTo>
                  <a:lnTo>
                    <a:pt x="2188407" y="2127957"/>
                  </a:lnTo>
                  <a:cubicBezTo>
                    <a:pt x="2188407" y="2196537"/>
                    <a:pt x="2132526" y="2252417"/>
                    <a:pt x="2063946" y="2252417"/>
                  </a:cubicBezTo>
                  <a:close/>
                </a:path>
              </a:pathLst>
            </a:custGeom>
            <a:solidFill>
              <a:srgbClr val="F1F1F1">
                <a:alpha val="63922"/>
              </a:srgbClr>
            </a:solidFill>
          </p:spPr>
        </p:sp>
      </p:grpSp>
      <p:grpSp>
        <p:nvGrpSpPr>
          <p:cNvPr id="9" name="Group 9">
            <a:extLst>
              <a:ext uri="{FF2B5EF4-FFF2-40B4-BE49-F238E27FC236}">
                <a16:creationId xmlns:a16="http://schemas.microsoft.com/office/drawing/2014/main" id="{C6A6B254-F771-08E2-87DD-154560E442F4}"/>
              </a:ext>
            </a:extLst>
          </p:cNvPr>
          <p:cNvGrpSpPr/>
          <p:nvPr/>
        </p:nvGrpSpPr>
        <p:grpSpPr>
          <a:xfrm>
            <a:off x="12381307" y="4237626"/>
            <a:ext cx="4877993" cy="5020674"/>
            <a:chOff x="0" y="0"/>
            <a:chExt cx="2188406" cy="2252417"/>
          </a:xfrm>
        </p:grpSpPr>
        <p:sp>
          <p:nvSpPr>
            <p:cNvPr id="10" name="Freeform 10">
              <a:extLst>
                <a:ext uri="{FF2B5EF4-FFF2-40B4-BE49-F238E27FC236}">
                  <a16:creationId xmlns:a16="http://schemas.microsoft.com/office/drawing/2014/main" id="{DEFC793C-0A98-53BA-0B99-2DE9833728D1}"/>
                </a:ext>
              </a:extLst>
            </p:cNvPr>
            <p:cNvSpPr/>
            <p:nvPr/>
          </p:nvSpPr>
          <p:spPr>
            <a:xfrm>
              <a:off x="0" y="0"/>
              <a:ext cx="2188407" cy="2252417"/>
            </a:xfrm>
            <a:custGeom>
              <a:avLst/>
              <a:gdLst/>
              <a:ahLst/>
              <a:cxnLst/>
              <a:rect l="l" t="t" r="r" b="b"/>
              <a:pathLst>
                <a:path w="2188407" h="2252417">
                  <a:moveTo>
                    <a:pt x="2063946" y="2252417"/>
                  </a:moveTo>
                  <a:lnTo>
                    <a:pt x="124460" y="2252417"/>
                  </a:lnTo>
                  <a:cubicBezTo>
                    <a:pt x="55880" y="2252417"/>
                    <a:pt x="0" y="2196537"/>
                    <a:pt x="0" y="2127957"/>
                  </a:cubicBezTo>
                  <a:lnTo>
                    <a:pt x="0" y="124460"/>
                  </a:lnTo>
                  <a:cubicBezTo>
                    <a:pt x="0" y="55880"/>
                    <a:pt x="55880" y="0"/>
                    <a:pt x="124460" y="0"/>
                  </a:cubicBezTo>
                  <a:lnTo>
                    <a:pt x="2063946" y="0"/>
                  </a:lnTo>
                  <a:cubicBezTo>
                    <a:pt x="2132526" y="0"/>
                    <a:pt x="2188407" y="55880"/>
                    <a:pt x="2188407" y="124460"/>
                  </a:cubicBezTo>
                  <a:lnTo>
                    <a:pt x="2188407" y="2127957"/>
                  </a:lnTo>
                  <a:cubicBezTo>
                    <a:pt x="2188407" y="2196537"/>
                    <a:pt x="2132526" y="2252417"/>
                    <a:pt x="2063946" y="2252417"/>
                  </a:cubicBezTo>
                  <a:close/>
                </a:path>
              </a:pathLst>
            </a:custGeom>
            <a:solidFill>
              <a:srgbClr val="F1F1F1">
                <a:alpha val="63922"/>
              </a:srgbClr>
            </a:solidFill>
          </p:spPr>
        </p:sp>
      </p:grpSp>
      <p:sp>
        <p:nvSpPr>
          <p:cNvPr id="11" name="Freeform 11">
            <a:extLst>
              <a:ext uri="{FF2B5EF4-FFF2-40B4-BE49-F238E27FC236}">
                <a16:creationId xmlns:a16="http://schemas.microsoft.com/office/drawing/2014/main" id="{526916E7-D510-BE2E-7189-40A19F91011B}"/>
              </a:ext>
            </a:extLst>
          </p:cNvPr>
          <p:cNvSpPr/>
          <p:nvPr/>
        </p:nvSpPr>
        <p:spPr>
          <a:xfrm>
            <a:off x="3096506" y="4571638"/>
            <a:ext cx="742380" cy="1143723"/>
          </a:xfrm>
          <a:custGeom>
            <a:avLst/>
            <a:gdLst/>
            <a:ahLst/>
            <a:cxnLst/>
            <a:rect l="l" t="t" r="r" b="b"/>
            <a:pathLst>
              <a:path w="742380" h="1143723">
                <a:moveTo>
                  <a:pt x="0" y="0"/>
                </a:moveTo>
                <a:lnTo>
                  <a:pt x="742381" y="0"/>
                </a:lnTo>
                <a:lnTo>
                  <a:pt x="742381" y="1143724"/>
                </a:lnTo>
                <a:lnTo>
                  <a:pt x="0" y="114372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2" name="Freeform 12">
            <a:extLst>
              <a:ext uri="{FF2B5EF4-FFF2-40B4-BE49-F238E27FC236}">
                <a16:creationId xmlns:a16="http://schemas.microsoft.com/office/drawing/2014/main" id="{0EF83BDE-FD77-451A-A42A-690F50307407}"/>
              </a:ext>
            </a:extLst>
          </p:cNvPr>
          <p:cNvSpPr/>
          <p:nvPr/>
        </p:nvSpPr>
        <p:spPr>
          <a:xfrm>
            <a:off x="14240758" y="4668273"/>
            <a:ext cx="1159090" cy="950454"/>
          </a:xfrm>
          <a:custGeom>
            <a:avLst/>
            <a:gdLst/>
            <a:ahLst/>
            <a:cxnLst/>
            <a:rect l="l" t="t" r="r" b="b"/>
            <a:pathLst>
              <a:path w="1159090" h="950454">
                <a:moveTo>
                  <a:pt x="0" y="0"/>
                </a:moveTo>
                <a:lnTo>
                  <a:pt x="1159090" y="0"/>
                </a:lnTo>
                <a:lnTo>
                  <a:pt x="1159090" y="950454"/>
                </a:lnTo>
                <a:lnTo>
                  <a:pt x="0" y="95045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3" name="Freeform 13">
            <a:extLst>
              <a:ext uri="{FF2B5EF4-FFF2-40B4-BE49-F238E27FC236}">
                <a16:creationId xmlns:a16="http://schemas.microsoft.com/office/drawing/2014/main" id="{6D47A4FA-DB61-BCC9-ED02-1DE0DEBBF98E}"/>
              </a:ext>
            </a:extLst>
          </p:cNvPr>
          <p:cNvSpPr/>
          <p:nvPr/>
        </p:nvSpPr>
        <p:spPr>
          <a:xfrm>
            <a:off x="8384189" y="4754997"/>
            <a:ext cx="1380964" cy="863730"/>
          </a:xfrm>
          <a:custGeom>
            <a:avLst/>
            <a:gdLst/>
            <a:ahLst/>
            <a:cxnLst/>
            <a:rect l="l" t="t" r="r" b="b"/>
            <a:pathLst>
              <a:path w="1380964" h="863730">
                <a:moveTo>
                  <a:pt x="0" y="0"/>
                </a:moveTo>
                <a:lnTo>
                  <a:pt x="1380964" y="0"/>
                </a:lnTo>
                <a:lnTo>
                  <a:pt x="1380964" y="863730"/>
                </a:lnTo>
                <a:lnTo>
                  <a:pt x="0" y="8637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grpSp>
        <p:nvGrpSpPr>
          <p:cNvPr id="14" name="Group 14">
            <a:extLst>
              <a:ext uri="{FF2B5EF4-FFF2-40B4-BE49-F238E27FC236}">
                <a16:creationId xmlns:a16="http://schemas.microsoft.com/office/drawing/2014/main" id="{4D260FFF-6EAC-AAEA-0A1B-0066E4945B1A}"/>
              </a:ext>
            </a:extLst>
          </p:cNvPr>
          <p:cNvGrpSpPr/>
          <p:nvPr/>
        </p:nvGrpSpPr>
        <p:grpSpPr>
          <a:xfrm>
            <a:off x="7138877" y="6141648"/>
            <a:ext cx="4010247" cy="2166247"/>
            <a:chOff x="0" y="-47625"/>
            <a:chExt cx="5346995" cy="2888330"/>
          </a:xfrm>
        </p:grpSpPr>
        <p:sp>
          <p:nvSpPr>
            <p:cNvPr id="15" name="TextBox 15">
              <a:extLst>
                <a:ext uri="{FF2B5EF4-FFF2-40B4-BE49-F238E27FC236}">
                  <a16:creationId xmlns:a16="http://schemas.microsoft.com/office/drawing/2014/main" id="{5DC88E3B-B2BF-4644-61E9-DFCE6A7926A3}"/>
                </a:ext>
              </a:extLst>
            </p:cNvPr>
            <p:cNvSpPr txBox="1"/>
            <p:nvPr/>
          </p:nvSpPr>
          <p:spPr>
            <a:xfrm>
              <a:off x="0" y="-47625"/>
              <a:ext cx="5346995" cy="566224"/>
            </a:xfrm>
            <a:prstGeom prst="rect">
              <a:avLst/>
            </a:prstGeom>
          </p:spPr>
          <p:txBody>
            <a:bodyPr lIns="0" tIns="0" rIns="0" bIns="0" rtlCol="0" anchor="t">
              <a:spAutoFit/>
            </a:bodyPr>
            <a:lstStyle/>
            <a:p>
              <a:pPr algn="ctr">
                <a:lnSpc>
                  <a:spcPts val="3640"/>
                </a:lnSpc>
              </a:pPr>
              <a:r>
                <a:rPr lang="en-US" sz="2600" b="1">
                  <a:solidFill>
                    <a:srgbClr val="000000"/>
                  </a:solidFill>
                  <a:latin typeface="Inter Bold"/>
                  <a:ea typeface="Inter Bold"/>
                  <a:cs typeface="Inter Bold"/>
                  <a:sym typeface="Inter Bold"/>
                </a:rPr>
                <a:t>Lên kế hoạch nhóm</a:t>
              </a:r>
            </a:p>
          </p:txBody>
        </p:sp>
        <p:sp>
          <p:nvSpPr>
            <p:cNvPr id="16" name="TextBox 16">
              <a:extLst>
                <a:ext uri="{FF2B5EF4-FFF2-40B4-BE49-F238E27FC236}">
                  <a16:creationId xmlns:a16="http://schemas.microsoft.com/office/drawing/2014/main" id="{87962021-C21C-D1BE-083B-5F4D864EC53D}"/>
                </a:ext>
              </a:extLst>
            </p:cNvPr>
            <p:cNvSpPr txBox="1"/>
            <p:nvPr/>
          </p:nvSpPr>
          <p:spPr>
            <a:xfrm>
              <a:off x="0" y="1145454"/>
              <a:ext cx="5346995" cy="1695251"/>
            </a:xfrm>
            <a:prstGeom prst="rect">
              <a:avLst/>
            </a:prstGeom>
          </p:spPr>
          <p:txBody>
            <a:bodyPr lIns="0" tIns="0" rIns="0" bIns="0" rtlCol="0" anchor="t">
              <a:spAutoFit/>
            </a:bodyPr>
            <a:lstStyle/>
            <a:p>
              <a:pPr marL="342900" indent="-342900">
                <a:lnSpc>
                  <a:spcPts val="3359"/>
                </a:lnSpc>
                <a:buFont typeface="Wingdings" panose="05000000000000000000" pitchFamily="2" charset="2"/>
                <a:buChar char="ü"/>
              </a:pPr>
              <a:r>
                <a:rPr lang="en-US" sz="2400">
                  <a:solidFill>
                    <a:srgbClr val="000000"/>
                  </a:solidFill>
                  <a:latin typeface="Inter"/>
                  <a:ea typeface="Inter"/>
                  <a:cs typeface="Inter"/>
                  <a:sym typeface="Inter"/>
                </a:rPr>
                <a:t>Phân chia nhiệm vụ</a:t>
              </a:r>
            </a:p>
            <a:p>
              <a:pPr marL="342900" indent="-342900">
                <a:lnSpc>
                  <a:spcPts val="3359"/>
                </a:lnSpc>
                <a:buFont typeface="Wingdings" panose="05000000000000000000" pitchFamily="2" charset="2"/>
                <a:buChar char="ü"/>
              </a:pPr>
              <a:r>
                <a:rPr lang="en-US" sz="2400">
                  <a:solidFill>
                    <a:srgbClr val="000000"/>
                  </a:solidFill>
                  <a:latin typeface="Inter"/>
                  <a:ea typeface="Inter"/>
                  <a:cs typeface="Inter"/>
                  <a:sym typeface="Inter"/>
                </a:rPr>
                <a:t>Theo dõi tiến độ</a:t>
              </a:r>
            </a:p>
            <a:p>
              <a:pPr marL="342900" indent="-342900">
                <a:lnSpc>
                  <a:spcPts val="3359"/>
                </a:lnSpc>
                <a:buFont typeface="Wingdings" panose="05000000000000000000" pitchFamily="2" charset="2"/>
                <a:buChar char="ü"/>
              </a:pPr>
              <a:r>
                <a:rPr lang="en-US" sz="2400">
                  <a:solidFill>
                    <a:srgbClr val="000000"/>
                  </a:solidFill>
                  <a:latin typeface="Inter"/>
                  <a:ea typeface="Inter"/>
                  <a:cs typeface="Inter"/>
                  <a:sym typeface="Inter"/>
                </a:rPr>
                <a:t>Giao tiếp nhóm dễ dàng</a:t>
              </a:r>
            </a:p>
          </p:txBody>
        </p:sp>
      </p:grpSp>
      <p:grpSp>
        <p:nvGrpSpPr>
          <p:cNvPr id="17" name="Group 17">
            <a:extLst>
              <a:ext uri="{FF2B5EF4-FFF2-40B4-BE49-F238E27FC236}">
                <a16:creationId xmlns:a16="http://schemas.microsoft.com/office/drawing/2014/main" id="{C2EBF070-D38E-5998-9D96-6B4CD6F02470}"/>
              </a:ext>
            </a:extLst>
          </p:cNvPr>
          <p:cNvGrpSpPr/>
          <p:nvPr/>
        </p:nvGrpSpPr>
        <p:grpSpPr>
          <a:xfrm>
            <a:off x="12815180" y="6105972"/>
            <a:ext cx="4024102" cy="2615904"/>
            <a:chOff x="0" y="-47625"/>
            <a:chExt cx="5365468" cy="3487873"/>
          </a:xfrm>
        </p:grpSpPr>
        <p:sp>
          <p:nvSpPr>
            <p:cNvPr id="18" name="TextBox 18">
              <a:extLst>
                <a:ext uri="{FF2B5EF4-FFF2-40B4-BE49-F238E27FC236}">
                  <a16:creationId xmlns:a16="http://schemas.microsoft.com/office/drawing/2014/main" id="{C507C62B-5E2D-6280-CA3A-7D3E1985F31D}"/>
                </a:ext>
              </a:extLst>
            </p:cNvPr>
            <p:cNvSpPr txBox="1"/>
            <p:nvPr/>
          </p:nvSpPr>
          <p:spPr>
            <a:xfrm>
              <a:off x="0" y="-47625"/>
              <a:ext cx="5346995" cy="566224"/>
            </a:xfrm>
            <a:prstGeom prst="rect">
              <a:avLst/>
            </a:prstGeom>
          </p:spPr>
          <p:txBody>
            <a:bodyPr lIns="0" tIns="0" rIns="0" bIns="0" rtlCol="0" anchor="t">
              <a:spAutoFit/>
            </a:bodyPr>
            <a:lstStyle/>
            <a:p>
              <a:pPr algn="ctr">
                <a:lnSpc>
                  <a:spcPts val="3640"/>
                </a:lnSpc>
              </a:pPr>
              <a:r>
                <a:rPr lang="vi-VN" sz="2600" b="1">
                  <a:solidFill>
                    <a:srgbClr val="000000"/>
                  </a:solidFill>
                  <a:latin typeface="Inter Bold"/>
                  <a:ea typeface="Inter Bold"/>
                  <a:cs typeface="Inter Bold"/>
                  <a:sym typeface="Inter Bold"/>
                </a:rPr>
                <a:t>Nền tảng phát triển</a:t>
              </a:r>
              <a:endParaRPr lang="en-US" sz="2600" b="1">
                <a:solidFill>
                  <a:srgbClr val="000000"/>
                </a:solidFill>
                <a:latin typeface="Inter Bold"/>
                <a:ea typeface="Inter Bold"/>
                <a:cs typeface="Inter Bold"/>
                <a:sym typeface="Inter Bold"/>
              </a:endParaRPr>
            </a:p>
          </p:txBody>
        </p:sp>
        <p:sp>
          <p:nvSpPr>
            <p:cNvPr id="19" name="TextBox 19">
              <a:extLst>
                <a:ext uri="{FF2B5EF4-FFF2-40B4-BE49-F238E27FC236}">
                  <a16:creationId xmlns:a16="http://schemas.microsoft.com/office/drawing/2014/main" id="{E8DBD358-125E-FE15-8057-C9285ABF2FBC}"/>
                </a:ext>
              </a:extLst>
            </p:cNvPr>
            <p:cNvSpPr txBox="1"/>
            <p:nvPr/>
          </p:nvSpPr>
          <p:spPr>
            <a:xfrm>
              <a:off x="18473" y="1163641"/>
              <a:ext cx="5346995" cy="2276607"/>
            </a:xfrm>
            <a:prstGeom prst="rect">
              <a:avLst/>
            </a:prstGeom>
          </p:spPr>
          <p:txBody>
            <a:bodyPr lIns="0" tIns="0" rIns="0" bIns="0" rtlCol="0" anchor="t">
              <a:spAutoFit/>
            </a:bodyPr>
            <a:lstStyle/>
            <a:p>
              <a:pPr marL="342900" indent="-342900">
                <a:lnSpc>
                  <a:spcPts val="3359"/>
                </a:lnSpc>
                <a:buFont typeface="Wingdings" panose="05000000000000000000" pitchFamily="2" charset="2"/>
                <a:buChar char="ü"/>
              </a:pPr>
              <a:r>
                <a:rPr lang="en-US" sz="2400">
                  <a:solidFill>
                    <a:srgbClr val="000000"/>
                  </a:solidFill>
                  <a:latin typeface="Inter"/>
                  <a:ea typeface="Inter"/>
                </a:rPr>
                <a:t>ERP (hệ thống quản lý doanh nghiệp)</a:t>
              </a:r>
            </a:p>
            <a:p>
              <a:pPr marL="342900" indent="-342900">
                <a:lnSpc>
                  <a:spcPts val="3359"/>
                </a:lnSpc>
                <a:buFont typeface="Wingdings" panose="05000000000000000000" pitchFamily="2" charset="2"/>
                <a:buChar char="ü"/>
              </a:pPr>
              <a:r>
                <a:rPr lang="en-US" sz="2400">
                  <a:solidFill>
                    <a:srgbClr val="000000"/>
                  </a:solidFill>
                  <a:latin typeface="Inter"/>
                  <a:ea typeface="Inter"/>
                </a:rPr>
                <a:t>Quản lý dự án</a:t>
              </a:r>
            </a:p>
            <a:p>
              <a:pPr marL="342900" indent="-342900">
                <a:lnSpc>
                  <a:spcPts val="3359"/>
                </a:lnSpc>
                <a:buFont typeface="Wingdings" panose="05000000000000000000" pitchFamily="2" charset="2"/>
                <a:buChar char="ü"/>
              </a:pPr>
              <a:r>
                <a:rPr lang="en-US" sz="2400">
                  <a:solidFill>
                    <a:srgbClr val="000000"/>
                  </a:solidFill>
                  <a:latin typeface="Inter"/>
                  <a:ea typeface="Inter"/>
                </a:rPr>
                <a:t>Ứng dụng quy mô lớn</a:t>
              </a:r>
              <a:endParaRPr lang="en-US" sz="2400">
                <a:solidFill>
                  <a:srgbClr val="000000"/>
                </a:solidFill>
                <a:latin typeface="Inter"/>
                <a:ea typeface="Inter"/>
                <a:sym typeface="Inter"/>
              </a:endParaRPr>
            </a:p>
          </p:txBody>
        </p:sp>
      </p:grpSp>
      <p:grpSp>
        <p:nvGrpSpPr>
          <p:cNvPr id="20" name="Group 20">
            <a:extLst>
              <a:ext uri="{FF2B5EF4-FFF2-40B4-BE49-F238E27FC236}">
                <a16:creationId xmlns:a16="http://schemas.microsoft.com/office/drawing/2014/main" id="{A6231EEC-D07B-D492-F7CB-1EA754AA2537}"/>
              </a:ext>
            </a:extLst>
          </p:cNvPr>
          <p:cNvGrpSpPr/>
          <p:nvPr/>
        </p:nvGrpSpPr>
        <p:grpSpPr>
          <a:xfrm>
            <a:off x="1462573" y="6141648"/>
            <a:ext cx="4224074" cy="2161414"/>
            <a:chOff x="0" y="-47625"/>
            <a:chExt cx="5632098" cy="2881886"/>
          </a:xfrm>
        </p:grpSpPr>
        <p:sp>
          <p:nvSpPr>
            <p:cNvPr id="21" name="TextBox 21">
              <a:extLst>
                <a:ext uri="{FF2B5EF4-FFF2-40B4-BE49-F238E27FC236}">
                  <a16:creationId xmlns:a16="http://schemas.microsoft.com/office/drawing/2014/main" id="{55160082-0C82-830A-B7B0-05627ECE8321}"/>
                </a:ext>
              </a:extLst>
            </p:cNvPr>
            <p:cNvSpPr txBox="1"/>
            <p:nvPr/>
          </p:nvSpPr>
          <p:spPr>
            <a:xfrm>
              <a:off x="0" y="-47625"/>
              <a:ext cx="5346995" cy="575945"/>
            </a:xfrm>
            <a:prstGeom prst="rect">
              <a:avLst/>
            </a:prstGeom>
          </p:spPr>
          <p:txBody>
            <a:bodyPr lIns="0" tIns="0" rIns="0" bIns="0" rtlCol="0" anchor="t">
              <a:spAutoFit/>
            </a:bodyPr>
            <a:lstStyle/>
            <a:p>
              <a:pPr algn="ctr">
                <a:lnSpc>
                  <a:spcPts val="3640"/>
                </a:lnSpc>
              </a:pPr>
              <a:r>
                <a:rPr lang="en-US" sz="2600" b="1">
                  <a:solidFill>
                    <a:srgbClr val="000000"/>
                  </a:solidFill>
                  <a:latin typeface="Inter Bold"/>
                  <a:ea typeface="Inter Bold"/>
                  <a:cs typeface="Inter Bold"/>
                  <a:sym typeface="Inter Bold"/>
                </a:rPr>
                <a:t>Quản lý lịch cá nhân</a:t>
              </a:r>
            </a:p>
          </p:txBody>
        </p:sp>
        <p:sp>
          <p:nvSpPr>
            <p:cNvPr id="22" name="TextBox 22">
              <a:extLst>
                <a:ext uri="{FF2B5EF4-FFF2-40B4-BE49-F238E27FC236}">
                  <a16:creationId xmlns:a16="http://schemas.microsoft.com/office/drawing/2014/main" id="{E7BD9634-9F27-C128-1295-49E37248BB17}"/>
                </a:ext>
              </a:extLst>
            </p:cNvPr>
            <p:cNvSpPr txBox="1"/>
            <p:nvPr/>
          </p:nvSpPr>
          <p:spPr>
            <a:xfrm>
              <a:off x="285103" y="1139010"/>
              <a:ext cx="5346995" cy="1695251"/>
            </a:xfrm>
            <a:prstGeom prst="rect">
              <a:avLst/>
            </a:prstGeom>
          </p:spPr>
          <p:txBody>
            <a:bodyPr lIns="0" tIns="0" rIns="0" bIns="0" rtlCol="0" anchor="t">
              <a:spAutoFit/>
            </a:bodyPr>
            <a:lstStyle/>
            <a:p>
              <a:pPr marL="342900" indent="-342900">
                <a:lnSpc>
                  <a:spcPts val="3359"/>
                </a:lnSpc>
                <a:buFont typeface="Wingdings" panose="05000000000000000000" pitchFamily="2" charset="2"/>
                <a:buChar char="ü"/>
              </a:pPr>
              <a:r>
                <a:rPr lang="en-US" sz="2400">
                  <a:solidFill>
                    <a:srgbClr val="000000"/>
                  </a:solidFill>
                  <a:latin typeface="Inter"/>
                  <a:ea typeface="Inter"/>
                  <a:cs typeface="Inter"/>
                  <a:sym typeface="Inter"/>
                </a:rPr>
                <a:t>Nhắc nhở công việc</a:t>
              </a:r>
            </a:p>
            <a:p>
              <a:pPr marL="342900" indent="-342900">
                <a:lnSpc>
                  <a:spcPts val="3359"/>
                </a:lnSpc>
                <a:buFont typeface="Wingdings" panose="05000000000000000000" pitchFamily="2" charset="2"/>
                <a:buChar char="ü"/>
              </a:pPr>
              <a:r>
                <a:rPr lang="en-US" sz="2400">
                  <a:solidFill>
                    <a:srgbClr val="000000"/>
                  </a:solidFill>
                  <a:latin typeface="Inter"/>
                  <a:ea typeface="Inter"/>
                  <a:cs typeface="Inter"/>
                  <a:sym typeface="Inter"/>
                </a:rPr>
                <a:t>Theo dõi thời gian</a:t>
              </a:r>
            </a:p>
            <a:p>
              <a:pPr marL="342900" indent="-342900">
                <a:lnSpc>
                  <a:spcPts val="3359"/>
                </a:lnSpc>
                <a:buFont typeface="Wingdings" panose="05000000000000000000" pitchFamily="2" charset="2"/>
                <a:buChar char="ü"/>
              </a:pPr>
              <a:r>
                <a:rPr lang="vi-VN" sz="2400">
                  <a:solidFill>
                    <a:srgbClr val="000000"/>
                  </a:solidFill>
                  <a:latin typeface="Inter"/>
                  <a:ea typeface="Inter"/>
                  <a:cs typeface="Inter"/>
                  <a:sym typeface="Inter"/>
                </a:rPr>
                <a:t>Ưu tiên công việc</a:t>
              </a:r>
              <a:endParaRPr lang="en-US" sz="2400">
                <a:solidFill>
                  <a:srgbClr val="000000"/>
                </a:solidFill>
                <a:latin typeface="Inter"/>
                <a:ea typeface="Inter"/>
                <a:cs typeface="Inter"/>
                <a:sym typeface="Inter"/>
              </a:endParaRPr>
            </a:p>
          </p:txBody>
        </p:sp>
      </p:grpSp>
    </p:spTree>
    <p:extLst>
      <p:ext uri="{BB962C8B-B14F-4D97-AF65-F5344CB8AC3E}">
        <p14:creationId xmlns:p14="http://schemas.microsoft.com/office/powerpoint/2010/main" val="3245164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7315200" y="3445235"/>
            <a:ext cx="9540580" cy="2616101"/>
          </a:xfrm>
          <a:prstGeom prst="rect">
            <a:avLst/>
          </a:prstGeom>
        </p:spPr>
        <p:txBody>
          <a:bodyPr lIns="0" tIns="0" rIns="0" bIns="0" rtlCol="0" anchor="t">
            <a:spAutoFit/>
          </a:bodyPr>
          <a:lstStyle/>
          <a:p>
            <a:pPr algn="ctr">
              <a:lnSpc>
                <a:spcPts val="10200"/>
              </a:lnSpc>
            </a:pPr>
            <a:r>
              <a:rPr lang="en-US" sz="85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Inter Bold"/>
                <a:ea typeface="Inter Bold"/>
                <a:cs typeface="Inter Bold"/>
                <a:sym typeface="Inter Bold"/>
              </a:rPr>
              <a:t>KẾT LUẬN</a:t>
            </a:r>
            <a:br>
              <a:rPr lang="en-US" sz="85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Inter Bold"/>
                <a:ea typeface="Inter Bold"/>
                <a:cs typeface="Inter Bold"/>
                <a:sym typeface="Inter Bold"/>
              </a:rPr>
            </a:br>
            <a:r>
              <a:rPr lang="en-US" sz="88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rPr>
              <a:t>Ứng dụng To-do-list</a:t>
            </a:r>
            <a:endParaRPr lang="en-US" sz="850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latin typeface="Inter Bold"/>
              <a:ea typeface="Inter Bold"/>
              <a:cs typeface="Inter Bold"/>
              <a:sym typeface="Inter Bold"/>
            </a:endParaRPr>
          </a:p>
        </p:txBody>
      </p:sp>
      <p:sp>
        <p:nvSpPr>
          <p:cNvPr id="3" name="Freeform 3"/>
          <p:cNvSpPr/>
          <p:nvPr/>
        </p:nvSpPr>
        <p:spPr>
          <a:xfrm>
            <a:off x="2198827" y="-197455"/>
            <a:ext cx="4522539" cy="6172200"/>
          </a:xfrm>
          <a:custGeom>
            <a:avLst/>
            <a:gdLst/>
            <a:ahLst/>
            <a:cxnLst/>
            <a:rect l="l" t="t" r="r" b="b"/>
            <a:pathLst>
              <a:path w="4522539" h="6172200">
                <a:moveTo>
                  <a:pt x="0" y="0"/>
                </a:moveTo>
                <a:lnTo>
                  <a:pt x="4522540" y="0"/>
                </a:lnTo>
                <a:lnTo>
                  <a:pt x="4522540" y="6172200"/>
                </a:lnTo>
                <a:lnTo>
                  <a:pt x="0" y="61722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892065" y="6012742"/>
            <a:ext cx="5122913" cy="3073748"/>
          </a:xfrm>
          <a:custGeom>
            <a:avLst/>
            <a:gdLst/>
            <a:ahLst/>
            <a:cxnLst/>
            <a:rect l="l" t="t" r="r" b="b"/>
            <a:pathLst>
              <a:path w="5122913" h="3073748">
                <a:moveTo>
                  <a:pt x="0" y="0"/>
                </a:moveTo>
                <a:lnTo>
                  <a:pt x="5122913" y="0"/>
                </a:lnTo>
                <a:lnTo>
                  <a:pt x="5122913" y="3073748"/>
                </a:lnTo>
                <a:lnTo>
                  <a:pt x="0" y="30737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5" name="Freeform 5"/>
          <p:cNvSpPr/>
          <p:nvPr/>
        </p:nvSpPr>
        <p:spPr>
          <a:xfrm>
            <a:off x="7962808" y="-330776"/>
            <a:ext cx="2055611" cy="2717755"/>
          </a:xfrm>
          <a:custGeom>
            <a:avLst/>
            <a:gdLst/>
            <a:ahLst/>
            <a:cxnLst/>
            <a:rect l="l" t="t" r="r" b="b"/>
            <a:pathLst>
              <a:path w="2055611" h="2717755">
                <a:moveTo>
                  <a:pt x="0" y="0"/>
                </a:moveTo>
                <a:lnTo>
                  <a:pt x="2055612" y="0"/>
                </a:lnTo>
                <a:lnTo>
                  <a:pt x="2055612" y="2717756"/>
                </a:lnTo>
                <a:lnTo>
                  <a:pt x="0" y="271775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6" name="Freeform 6"/>
          <p:cNvSpPr/>
          <p:nvPr/>
        </p:nvSpPr>
        <p:spPr>
          <a:xfrm>
            <a:off x="-1327292" y="-644511"/>
            <a:ext cx="3993368" cy="2853443"/>
          </a:xfrm>
          <a:custGeom>
            <a:avLst/>
            <a:gdLst/>
            <a:ahLst/>
            <a:cxnLst/>
            <a:rect l="l" t="t" r="r" b="b"/>
            <a:pathLst>
              <a:path w="3993368" h="2853443">
                <a:moveTo>
                  <a:pt x="0" y="0"/>
                </a:moveTo>
                <a:lnTo>
                  <a:pt x="3993368" y="0"/>
                </a:lnTo>
                <a:lnTo>
                  <a:pt x="3993368" y="2853443"/>
                </a:lnTo>
                <a:lnTo>
                  <a:pt x="0" y="28534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C4CE8-4A3D-E8AE-5E59-26A1DE6BAFA2}"/>
            </a:ext>
          </a:extLst>
        </p:cNvPr>
        <p:cNvGrpSpPr/>
        <p:nvPr/>
      </p:nvGrpSpPr>
      <p:grpSpPr>
        <a:xfrm>
          <a:off x="0" y="0"/>
          <a:ext cx="0" cy="0"/>
          <a:chOff x="0" y="0"/>
          <a:chExt cx="0" cy="0"/>
        </a:xfrm>
      </p:grpSpPr>
      <p:sp>
        <p:nvSpPr>
          <p:cNvPr id="3" name="TextBox 3">
            <a:extLst>
              <a:ext uri="{FF2B5EF4-FFF2-40B4-BE49-F238E27FC236}">
                <a16:creationId xmlns:a16="http://schemas.microsoft.com/office/drawing/2014/main" id="{64FF1880-719D-60F3-2BDA-9B0CDEC9A62F}"/>
              </a:ext>
            </a:extLst>
          </p:cNvPr>
          <p:cNvSpPr txBox="1"/>
          <p:nvPr/>
        </p:nvSpPr>
        <p:spPr>
          <a:xfrm>
            <a:off x="3101617" y="1314944"/>
            <a:ext cx="12084767" cy="974626"/>
          </a:xfrm>
          <a:prstGeom prst="rect">
            <a:avLst/>
          </a:prstGeom>
        </p:spPr>
        <p:txBody>
          <a:bodyPr lIns="0" tIns="0" rIns="0" bIns="0" rtlCol="0" anchor="t">
            <a:spAutoFit/>
          </a:bodyPr>
          <a:lstStyle/>
          <a:p>
            <a:pPr algn="ctr">
              <a:lnSpc>
                <a:spcPts val="7589"/>
              </a:lnSpc>
            </a:pPr>
            <a:r>
              <a:rPr lang="vi-VN" sz="6899"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Inter Bold"/>
                <a:ea typeface="Inter Bold"/>
                <a:cs typeface="Inter Bold"/>
                <a:sym typeface="Inter Bold"/>
              </a:rPr>
              <a:t>Ưu điểm</a:t>
            </a:r>
            <a:r>
              <a:rPr lang="en-US" sz="6899"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Inter Bold"/>
                <a:ea typeface="Inter Bold"/>
                <a:cs typeface="Inter Bold"/>
                <a:sym typeface="Inter Bold"/>
              </a:rPr>
              <a:t> &amp; </a:t>
            </a:r>
            <a:r>
              <a:rPr lang="vi-VN" sz="6899"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Inter Bold"/>
                <a:ea typeface="Inter Bold"/>
                <a:cs typeface="Inter Bold"/>
                <a:sym typeface="Inter Bold"/>
              </a:rPr>
              <a:t>Nhược điểm</a:t>
            </a:r>
            <a:r>
              <a:rPr lang="en-US" sz="6899" b="1">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latin typeface="Inter Bold"/>
                <a:ea typeface="Inter Bold"/>
                <a:cs typeface="Inter Bold"/>
                <a:sym typeface="Inter Bold"/>
              </a:rPr>
              <a:t> </a:t>
            </a:r>
          </a:p>
        </p:txBody>
      </p:sp>
      <p:grpSp>
        <p:nvGrpSpPr>
          <p:cNvPr id="5" name="Group 5">
            <a:extLst>
              <a:ext uri="{FF2B5EF4-FFF2-40B4-BE49-F238E27FC236}">
                <a16:creationId xmlns:a16="http://schemas.microsoft.com/office/drawing/2014/main" id="{E614F912-FF9E-EFDF-BF2D-C51393033AA5}"/>
              </a:ext>
            </a:extLst>
          </p:cNvPr>
          <p:cNvGrpSpPr/>
          <p:nvPr/>
        </p:nvGrpSpPr>
        <p:grpSpPr>
          <a:xfrm>
            <a:off x="2438397" y="3162300"/>
            <a:ext cx="6705603" cy="6248400"/>
            <a:chOff x="0" y="0"/>
            <a:chExt cx="2188406" cy="2252417"/>
          </a:xfrm>
        </p:grpSpPr>
        <p:sp>
          <p:nvSpPr>
            <p:cNvPr id="6" name="Freeform 6">
              <a:extLst>
                <a:ext uri="{FF2B5EF4-FFF2-40B4-BE49-F238E27FC236}">
                  <a16:creationId xmlns:a16="http://schemas.microsoft.com/office/drawing/2014/main" id="{B26D343D-F66A-6498-8FBA-8D0265A51590}"/>
                </a:ext>
              </a:extLst>
            </p:cNvPr>
            <p:cNvSpPr/>
            <p:nvPr/>
          </p:nvSpPr>
          <p:spPr>
            <a:xfrm>
              <a:off x="0" y="0"/>
              <a:ext cx="2188407" cy="2252417"/>
            </a:xfrm>
            <a:custGeom>
              <a:avLst/>
              <a:gdLst/>
              <a:ahLst/>
              <a:cxnLst/>
              <a:rect l="l" t="t" r="r" b="b"/>
              <a:pathLst>
                <a:path w="2188407" h="2252417">
                  <a:moveTo>
                    <a:pt x="2063946" y="2252417"/>
                  </a:moveTo>
                  <a:lnTo>
                    <a:pt x="124460" y="2252417"/>
                  </a:lnTo>
                  <a:cubicBezTo>
                    <a:pt x="55880" y="2252417"/>
                    <a:pt x="0" y="2196537"/>
                    <a:pt x="0" y="2127957"/>
                  </a:cubicBezTo>
                  <a:lnTo>
                    <a:pt x="0" y="124460"/>
                  </a:lnTo>
                  <a:cubicBezTo>
                    <a:pt x="0" y="55880"/>
                    <a:pt x="55880" y="0"/>
                    <a:pt x="124460" y="0"/>
                  </a:cubicBezTo>
                  <a:lnTo>
                    <a:pt x="2063946" y="0"/>
                  </a:lnTo>
                  <a:cubicBezTo>
                    <a:pt x="2132526" y="0"/>
                    <a:pt x="2188407" y="55880"/>
                    <a:pt x="2188407" y="124460"/>
                  </a:cubicBezTo>
                  <a:lnTo>
                    <a:pt x="2188407" y="2127957"/>
                  </a:lnTo>
                  <a:cubicBezTo>
                    <a:pt x="2188407" y="2196537"/>
                    <a:pt x="2132526" y="2252417"/>
                    <a:pt x="2063946" y="2252417"/>
                  </a:cubicBezTo>
                  <a:close/>
                </a:path>
              </a:pathLst>
            </a:custGeom>
            <a:solidFill>
              <a:srgbClr val="F1F1F1">
                <a:alpha val="63922"/>
              </a:srgbClr>
            </a:solidFill>
          </p:spPr>
        </p:sp>
      </p:grpSp>
      <p:grpSp>
        <p:nvGrpSpPr>
          <p:cNvPr id="7" name="Group 7">
            <a:extLst>
              <a:ext uri="{FF2B5EF4-FFF2-40B4-BE49-F238E27FC236}">
                <a16:creationId xmlns:a16="http://schemas.microsoft.com/office/drawing/2014/main" id="{19DE1DC1-0DD4-2465-B6A9-5B7C670774CD}"/>
              </a:ext>
            </a:extLst>
          </p:cNvPr>
          <p:cNvGrpSpPr/>
          <p:nvPr/>
        </p:nvGrpSpPr>
        <p:grpSpPr>
          <a:xfrm>
            <a:off x="9904807" y="3162300"/>
            <a:ext cx="6705606" cy="6248400"/>
            <a:chOff x="0" y="0"/>
            <a:chExt cx="2188406" cy="2252417"/>
          </a:xfrm>
        </p:grpSpPr>
        <p:sp>
          <p:nvSpPr>
            <p:cNvPr id="8" name="Freeform 8">
              <a:extLst>
                <a:ext uri="{FF2B5EF4-FFF2-40B4-BE49-F238E27FC236}">
                  <a16:creationId xmlns:a16="http://schemas.microsoft.com/office/drawing/2014/main" id="{F8C4D8A2-9938-21D4-2B72-473ADA37712B}"/>
                </a:ext>
              </a:extLst>
            </p:cNvPr>
            <p:cNvSpPr/>
            <p:nvPr/>
          </p:nvSpPr>
          <p:spPr>
            <a:xfrm>
              <a:off x="0" y="0"/>
              <a:ext cx="2188407" cy="2252417"/>
            </a:xfrm>
            <a:custGeom>
              <a:avLst/>
              <a:gdLst/>
              <a:ahLst/>
              <a:cxnLst/>
              <a:rect l="l" t="t" r="r" b="b"/>
              <a:pathLst>
                <a:path w="2188407" h="2252417">
                  <a:moveTo>
                    <a:pt x="2063946" y="2252417"/>
                  </a:moveTo>
                  <a:lnTo>
                    <a:pt x="124460" y="2252417"/>
                  </a:lnTo>
                  <a:cubicBezTo>
                    <a:pt x="55880" y="2252417"/>
                    <a:pt x="0" y="2196537"/>
                    <a:pt x="0" y="2127957"/>
                  </a:cubicBezTo>
                  <a:lnTo>
                    <a:pt x="0" y="124460"/>
                  </a:lnTo>
                  <a:cubicBezTo>
                    <a:pt x="0" y="55880"/>
                    <a:pt x="55880" y="0"/>
                    <a:pt x="124460" y="0"/>
                  </a:cubicBezTo>
                  <a:lnTo>
                    <a:pt x="2063946" y="0"/>
                  </a:lnTo>
                  <a:cubicBezTo>
                    <a:pt x="2132526" y="0"/>
                    <a:pt x="2188407" y="55880"/>
                    <a:pt x="2188407" y="124460"/>
                  </a:cubicBezTo>
                  <a:lnTo>
                    <a:pt x="2188407" y="2127957"/>
                  </a:lnTo>
                  <a:cubicBezTo>
                    <a:pt x="2188407" y="2196537"/>
                    <a:pt x="2132526" y="2252417"/>
                    <a:pt x="2063946" y="2252417"/>
                  </a:cubicBezTo>
                  <a:close/>
                </a:path>
              </a:pathLst>
            </a:custGeom>
            <a:solidFill>
              <a:srgbClr val="F1F1F1">
                <a:alpha val="63922"/>
              </a:srgbClr>
            </a:solidFill>
          </p:spPr>
        </p:sp>
      </p:grpSp>
      <p:grpSp>
        <p:nvGrpSpPr>
          <p:cNvPr id="14" name="Group 14">
            <a:extLst>
              <a:ext uri="{FF2B5EF4-FFF2-40B4-BE49-F238E27FC236}">
                <a16:creationId xmlns:a16="http://schemas.microsoft.com/office/drawing/2014/main" id="{BE8E0FC6-3577-A49B-E578-30D2CD7EC662}"/>
              </a:ext>
            </a:extLst>
          </p:cNvPr>
          <p:cNvGrpSpPr/>
          <p:nvPr/>
        </p:nvGrpSpPr>
        <p:grpSpPr>
          <a:xfrm>
            <a:off x="10058400" y="5067300"/>
            <a:ext cx="6324599" cy="3189089"/>
            <a:chOff x="0" y="-133564"/>
            <a:chExt cx="5346995" cy="2758299"/>
          </a:xfrm>
        </p:grpSpPr>
        <p:sp>
          <p:nvSpPr>
            <p:cNvPr id="15" name="TextBox 15">
              <a:extLst>
                <a:ext uri="{FF2B5EF4-FFF2-40B4-BE49-F238E27FC236}">
                  <a16:creationId xmlns:a16="http://schemas.microsoft.com/office/drawing/2014/main" id="{F50E0CA8-ED5C-A151-A480-EAE1ED36D446}"/>
                </a:ext>
              </a:extLst>
            </p:cNvPr>
            <p:cNvSpPr txBox="1"/>
            <p:nvPr/>
          </p:nvSpPr>
          <p:spPr>
            <a:xfrm>
              <a:off x="0" y="-133564"/>
              <a:ext cx="5346995" cy="367303"/>
            </a:xfrm>
            <a:prstGeom prst="rect">
              <a:avLst/>
            </a:prstGeom>
          </p:spPr>
          <p:txBody>
            <a:bodyPr lIns="0" tIns="0" rIns="0" bIns="0" rtlCol="0" anchor="t">
              <a:spAutoFit/>
            </a:bodyPr>
            <a:lstStyle/>
            <a:p>
              <a:pPr algn="ctr">
                <a:lnSpc>
                  <a:spcPts val="3640"/>
                </a:lnSpc>
              </a:pPr>
              <a:r>
                <a:rPr lang="vi-VN" sz="2600">
                  <a:ln w="0"/>
                  <a:solidFill>
                    <a:schemeClr val="accent1"/>
                  </a:solidFill>
                  <a:effectLst>
                    <a:glow rad="228600">
                      <a:schemeClr val="accent2">
                        <a:satMod val="175000"/>
                        <a:alpha val="40000"/>
                      </a:schemeClr>
                    </a:glow>
                    <a:outerShdw blurRad="38100" dist="25400" dir="5400000" algn="ctr" rotWithShape="0">
                      <a:srgbClr val="6E747A">
                        <a:alpha val="43000"/>
                      </a:srgbClr>
                    </a:outerShdw>
                  </a:effectLst>
                  <a:latin typeface="Inter Bold"/>
                  <a:ea typeface="Inter Bold"/>
                  <a:cs typeface="Inter Bold"/>
                  <a:sym typeface="Inter Bold"/>
                </a:rPr>
                <a:t>Nhược điểm</a:t>
              </a:r>
              <a:endParaRPr lang="en-US" sz="2600">
                <a:ln w="0"/>
                <a:solidFill>
                  <a:schemeClr val="accent1"/>
                </a:solidFill>
                <a:effectLst>
                  <a:glow rad="228600">
                    <a:schemeClr val="accent2">
                      <a:satMod val="175000"/>
                      <a:alpha val="40000"/>
                    </a:schemeClr>
                  </a:glow>
                  <a:outerShdw blurRad="38100" dist="25400" dir="5400000" algn="ctr" rotWithShape="0">
                    <a:srgbClr val="6E747A">
                      <a:alpha val="43000"/>
                    </a:srgbClr>
                  </a:outerShdw>
                </a:effectLst>
                <a:latin typeface="Inter Bold"/>
                <a:ea typeface="Inter Bold"/>
                <a:cs typeface="Inter Bold"/>
                <a:sym typeface="Inter Bold"/>
              </a:endParaRPr>
            </a:p>
          </p:txBody>
        </p:sp>
        <p:sp>
          <p:nvSpPr>
            <p:cNvPr id="16" name="TextBox 16">
              <a:extLst>
                <a:ext uri="{FF2B5EF4-FFF2-40B4-BE49-F238E27FC236}">
                  <a16:creationId xmlns:a16="http://schemas.microsoft.com/office/drawing/2014/main" id="{B69B9A29-5C0F-DC10-0E1A-CFDB633C7C2F}"/>
                </a:ext>
              </a:extLst>
            </p:cNvPr>
            <p:cNvSpPr txBox="1"/>
            <p:nvPr/>
          </p:nvSpPr>
          <p:spPr>
            <a:xfrm>
              <a:off x="0" y="393690"/>
              <a:ext cx="5346995" cy="2231045"/>
            </a:xfrm>
            <a:prstGeom prst="rect">
              <a:avLst/>
            </a:prstGeom>
          </p:spPr>
          <p:txBody>
            <a:bodyPr lIns="0" tIns="0" rIns="0" bIns="0" rtlCol="0" anchor="t">
              <a:spAutoFit/>
            </a:bodyPr>
            <a:lstStyle/>
            <a:p>
              <a:pPr marL="342900" indent="-342900">
                <a:lnSpc>
                  <a:spcPts val="3359"/>
                </a:lnSpc>
                <a:buFont typeface="Arial" panose="020B0604020202020204" pitchFamily="34" charset="0"/>
                <a:buChar char="•"/>
              </a:pPr>
              <a:r>
                <a:rPr lang="vi-VN"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Giao diện có thể chưa hiện đại so với framework mới</a:t>
              </a:r>
              <a:endPar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endParaRPr>
            </a:p>
            <a:p>
              <a:pPr marL="342900" indent="-342900">
                <a:lnSpc>
                  <a:spcPts val="3359"/>
                </a:lnSpc>
                <a:buFont typeface="Arial" panose="020B0604020202020204" pitchFamily="34" charset="0"/>
                <a:buChar char="•"/>
              </a:pPr>
              <a:r>
                <a:rPr lang="vi-VN"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Cần cấu hình server và database phức tạp hơn so với công nghệ khác</a:t>
              </a:r>
              <a:endPar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endParaRPr>
            </a:p>
            <a:p>
              <a:pPr marL="342900" indent="-342900">
                <a:lnSpc>
                  <a:spcPts val="3359"/>
                </a:lnSpc>
                <a:buFont typeface="Arial" panose="020B0604020202020204" pitchFamily="34" charset="0"/>
                <a:buChar char="•"/>
              </a:pPr>
              <a:r>
                <a:rPr lang="vi-VN"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Đòi hỏi kiến thức Java và các công nghệ web liên quan</a:t>
              </a:r>
              <a:endPar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endParaRPr>
            </a:p>
          </p:txBody>
        </p:sp>
      </p:grpSp>
      <p:grpSp>
        <p:nvGrpSpPr>
          <p:cNvPr id="20" name="Group 20">
            <a:extLst>
              <a:ext uri="{FF2B5EF4-FFF2-40B4-BE49-F238E27FC236}">
                <a16:creationId xmlns:a16="http://schemas.microsoft.com/office/drawing/2014/main" id="{42D78C98-6FF4-95F3-0D95-689E0CAF04CB}"/>
              </a:ext>
            </a:extLst>
          </p:cNvPr>
          <p:cNvGrpSpPr/>
          <p:nvPr/>
        </p:nvGrpSpPr>
        <p:grpSpPr>
          <a:xfrm>
            <a:off x="2796841" y="5146965"/>
            <a:ext cx="5867377" cy="3109423"/>
            <a:chOff x="118465" y="2902"/>
            <a:chExt cx="5353315" cy="2605466"/>
          </a:xfrm>
        </p:grpSpPr>
        <p:sp>
          <p:nvSpPr>
            <p:cNvPr id="21" name="TextBox 21">
              <a:extLst>
                <a:ext uri="{FF2B5EF4-FFF2-40B4-BE49-F238E27FC236}">
                  <a16:creationId xmlns:a16="http://schemas.microsoft.com/office/drawing/2014/main" id="{D1921B15-9262-12EC-D988-B877BDEE9150}"/>
                </a:ext>
              </a:extLst>
            </p:cNvPr>
            <p:cNvSpPr txBox="1"/>
            <p:nvPr/>
          </p:nvSpPr>
          <p:spPr>
            <a:xfrm>
              <a:off x="118465" y="2902"/>
              <a:ext cx="5346995" cy="355840"/>
            </a:xfrm>
            <a:prstGeom prst="rect">
              <a:avLst/>
            </a:prstGeom>
          </p:spPr>
          <p:txBody>
            <a:bodyPr lIns="0" tIns="0" rIns="0" bIns="0" rtlCol="0" anchor="t">
              <a:spAutoFit/>
            </a:bodyPr>
            <a:lstStyle/>
            <a:p>
              <a:pPr algn="ctr">
                <a:lnSpc>
                  <a:spcPts val="3640"/>
                </a:lnSpc>
              </a:pPr>
              <a:r>
                <a:rPr lang="vi-VN" sz="2600" b="1">
                  <a:ln w="0"/>
                  <a:solidFill>
                    <a:schemeClr val="accent1"/>
                  </a:solidFill>
                  <a:effectLst>
                    <a:glow rad="228600">
                      <a:schemeClr val="accent3">
                        <a:satMod val="175000"/>
                        <a:alpha val="40000"/>
                      </a:schemeClr>
                    </a:glow>
                    <a:outerShdw blurRad="38100" dist="25400" dir="5400000" algn="ctr" rotWithShape="0">
                      <a:srgbClr val="6E747A">
                        <a:alpha val="43000"/>
                      </a:srgbClr>
                    </a:outerShdw>
                  </a:effectLst>
                  <a:latin typeface="Inter Bold"/>
                  <a:ea typeface="Inter Bold"/>
                  <a:cs typeface="Inter Bold"/>
                  <a:sym typeface="Inter Bold"/>
                </a:rPr>
                <a:t>Ưu điểm</a:t>
              </a:r>
              <a:endParaRPr lang="en-US" sz="2600" b="1">
                <a:ln w="0"/>
                <a:solidFill>
                  <a:schemeClr val="accent1"/>
                </a:solidFill>
                <a:effectLst>
                  <a:glow rad="228600">
                    <a:schemeClr val="accent3">
                      <a:satMod val="175000"/>
                      <a:alpha val="40000"/>
                    </a:schemeClr>
                  </a:glow>
                  <a:outerShdw blurRad="38100" dist="25400" dir="5400000" algn="ctr" rotWithShape="0">
                    <a:srgbClr val="6E747A">
                      <a:alpha val="43000"/>
                    </a:srgbClr>
                  </a:outerShdw>
                </a:effectLst>
                <a:latin typeface="Inter Bold"/>
                <a:ea typeface="Inter Bold"/>
                <a:cs typeface="Inter Bold"/>
                <a:sym typeface="Inter Bold"/>
              </a:endParaRPr>
            </a:p>
          </p:txBody>
        </p:sp>
        <p:sp>
          <p:nvSpPr>
            <p:cNvPr id="22" name="TextBox 22">
              <a:extLst>
                <a:ext uri="{FF2B5EF4-FFF2-40B4-BE49-F238E27FC236}">
                  <a16:creationId xmlns:a16="http://schemas.microsoft.com/office/drawing/2014/main" id="{FE19D563-0F41-71D7-CEB8-3CC4254458CF}"/>
                </a:ext>
              </a:extLst>
            </p:cNvPr>
            <p:cNvSpPr txBox="1"/>
            <p:nvPr/>
          </p:nvSpPr>
          <p:spPr>
            <a:xfrm>
              <a:off x="124785" y="446948"/>
              <a:ext cx="5346995" cy="2161420"/>
            </a:xfrm>
            <a:prstGeom prst="rect">
              <a:avLst/>
            </a:prstGeom>
          </p:spPr>
          <p:txBody>
            <a:bodyPr lIns="0" tIns="0" rIns="0" bIns="0" rtlCol="0" anchor="t">
              <a:spAutoFit/>
            </a:bodyPr>
            <a:lstStyle/>
            <a:p>
              <a:pPr marL="342900" indent="-342900">
                <a:lnSpc>
                  <a:spcPts val="3359"/>
                </a:lnSpc>
                <a:buFont typeface="Arial" panose="020B0604020202020204" pitchFamily="34" charset="0"/>
                <a:buChar char="•"/>
              </a:pPr>
              <a:r>
                <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Ứng dụng nhỏ gọn, dễ sử dụng</a:t>
              </a:r>
            </a:p>
            <a:p>
              <a:pPr marL="342900" indent="-342900">
                <a:lnSpc>
                  <a:spcPts val="3359"/>
                </a:lnSpc>
                <a:buFont typeface="Arial" panose="020B0604020202020204" pitchFamily="34" charset="0"/>
                <a:buChar char="•"/>
              </a:pPr>
              <a:r>
                <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Kiến trúc MVC giúp bảo trì và mở rộng dễ dàng</a:t>
              </a:r>
            </a:p>
            <a:p>
              <a:pPr marL="342900" indent="-342900">
                <a:lnSpc>
                  <a:spcPts val="3359"/>
                </a:lnSpc>
                <a:buFont typeface="Arial" panose="020B0604020202020204" pitchFamily="34" charset="0"/>
                <a:buChar char="•"/>
              </a:pPr>
              <a:r>
                <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Kết hợp JSP, Servlet, JDBC củng cố kỹ năng lập trình web</a:t>
              </a:r>
            </a:p>
            <a:p>
              <a:pPr marL="342900" indent="-342900">
                <a:lnSpc>
                  <a:spcPts val="3359"/>
                </a:lnSpc>
                <a:buFont typeface="Arial" panose="020B0604020202020204" pitchFamily="34" charset="0"/>
                <a:buChar char="•"/>
              </a:pPr>
              <a:r>
                <a:rPr lang="en-US" sz="2400">
                  <a:ln w="0"/>
                  <a:solidFill>
                    <a:schemeClr val="accent1"/>
                  </a:solidFill>
                  <a:effectLst>
                    <a:outerShdw blurRad="38100" dist="25400" dir="5400000" algn="ctr" rotWithShape="0">
                      <a:srgbClr val="6E747A">
                        <a:alpha val="43000"/>
                      </a:srgbClr>
                    </a:outerShdw>
                  </a:effectLst>
                  <a:latin typeface="Inter"/>
                  <a:ea typeface="Inter"/>
                  <a:cs typeface="Inter"/>
                  <a:sym typeface="Inter"/>
                </a:rPr>
                <a:t>Hiệu suất ổn định, phản hồi nhanh</a:t>
              </a:r>
            </a:p>
          </p:txBody>
        </p:sp>
      </p:grpSp>
      <p:pic>
        <p:nvPicPr>
          <p:cNvPr id="24" name="Picture 23">
            <a:extLst>
              <a:ext uri="{FF2B5EF4-FFF2-40B4-BE49-F238E27FC236}">
                <a16:creationId xmlns:a16="http://schemas.microsoft.com/office/drawing/2014/main" id="{E9CC6E5D-A83E-179D-2A60-75185937E6C7}"/>
              </a:ext>
            </a:extLst>
          </p:cNvPr>
          <p:cNvPicPr>
            <a:picLocks noChangeAspect="1"/>
          </p:cNvPicPr>
          <p:nvPr/>
        </p:nvPicPr>
        <p:blipFill>
          <a:blip r:embed="rId2" cstate="print">
            <a:extLst>
              <a:ext uri="{28A0092B-C50C-407E-A947-70E740481C1C}">
                <a14:useLocalDpi xmlns:a14="http://schemas.microsoft.com/office/drawing/2010/main" val="0"/>
              </a:ext>
            </a:extLst>
          </a:blip>
          <a:srcRect t="14801" r="50000" b="14898"/>
          <a:stretch/>
        </p:blipFill>
        <p:spPr>
          <a:xfrm>
            <a:off x="4967431" y="3430732"/>
            <a:ext cx="1647538" cy="1447801"/>
          </a:xfrm>
          <a:prstGeom prst="rect">
            <a:avLst/>
          </a:prstGeom>
        </p:spPr>
      </p:pic>
      <p:pic>
        <p:nvPicPr>
          <p:cNvPr id="26" name="Picture 25">
            <a:extLst>
              <a:ext uri="{FF2B5EF4-FFF2-40B4-BE49-F238E27FC236}">
                <a16:creationId xmlns:a16="http://schemas.microsoft.com/office/drawing/2014/main" id="{DDD05E9D-ED04-4B92-6AF8-F3010FE7C72A}"/>
              </a:ext>
            </a:extLst>
          </p:cNvPr>
          <p:cNvPicPr>
            <a:picLocks noChangeAspect="1"/>
          </p:cNvPicPr>
          <p:nvPr/>
        </p:nvPicPr>
        <p:blipFill>
          <a:blip r:embed="rId2" cstate="print">
            <a:extLst>
              <a:ext uri="{28A0092B-C50C-407E-A947-70E740481C1C}">
                <a14:useLocalDpi xmlns:a14="http://schemas.microsoft.com/office/drawing/2010/main" val="0"/>
              </a:ext>
            </a:extLst>
          </a:blip>
          <a:srcRect l="50000" t="14801" b="14898"/>
          <a:stretch/>
        </p:blipFill>
        <p:spPr>
          <a:xfrm>
            <a:off x="12396930" y="3430732"/>
            <a:ext cx="1647538" cy="1447802"/>
          </a:xfrm>
          <a:prstGeom prst="rect">
            <a:avLst/>
          </a:prstGeom>
        </p:spPr>
      </p:pic>
    </p:spTree>
    <p:extLst>
      <p:ext uri="{BB962C8B-B14F-4D97-AF65-F5344CB8AC3E}">
        <p14:creationId xmlns:p14="http://schemas.microsoft.com/office/powerpoint/2010/main" val="32960346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3" name="TextBox 3"/>
          <p:cNvSpPr txBox="1"/>
          <p:nvPr/>
        </p:nvSpPr>
        <p:spPr>
          <a:xfrm>
            <a:off x="2244826" y="6134100"/>
            <a:ext cx="13798347" cy="1319592"/>
          </a:xfrm>
          <a:prstGeom prst="rect">
            <a:avLst/>
          </a:prstGeom>
        </p:spPr>
        <p:txBody>
          <a:bodyPr lIns="0" tIns="0" rIns="0" bIns="0" rtlCol="0" anchor="t">
            <a:spAutoFit/>
          </a:bodyPr>
          <a:lstStyle/>
          <a:p>
            <a:pPr algn="ctr">
              <a:lnSpc>
                <a:spcPts val="7680"/>
              </a:lnSpc>
            </a:pPr>
            <a:r>
              <a:rPr lang="en-US" sz="192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Inter Bold"/>
                <a:ea typeface="Inter Bold"/>
                <a:cs typeface="Inter Bold"/>
                <a:sym typeface="Inter Bold"/>
              </a:rPr>
              <a:t>DEMO</a:t>
            </a:r>
          </a:p>
        </p:txBody>
      </p:sp>
      <p:sp>
        <p:nvSpPr>
          <p:cNvPr id="5" name="Freeform 4"/>
          <p:cNvSpPr/>
          <p:nvPr/>
        </p:nvSpPr>
        <p:spPr>
          <a:xfrm>
            <a:off x="7517780" y="1333500"/>
            <a:ext cx="3252440" cy="2667000"/>
          </a:xfrm>
          <a:custGeom>
            <a:avLst/>
            <a:gdLst/>
            <a:ahLst/>
            <a:cxnLst/>
            <a:rect l="l" t="t" r="r" b="b"/>
            <a:pathLst>
              <a:path w="2967246" h="2433141">
                <a:moveTo>
                  <a:pt x="0" y="0"/>
                </a:moveTo>
                <a:lnTo>
                  <a:pt x="2967246" y="0"/>
                </a:lnTo>
                <a:lnTo>
                  <a:pt x="2967246" y="2433141"/>
                </a:lnTo>
                <a:lnTo>
                  <a:pt x="0" y="2433141"/>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
        <p:cNvGrpSpPr/>
        <p:nvPr/>
      </p:nvGrpSpPr>
      <p:grpSpPr>
        <a:xfrm>
          <a:off x="0" y="0"/>
          <a:ext cx="0" cy="0"/>
          <a:chOff x="0" y="0"/>
          <a:chExt cx="0" cy="0"/>
        </a:xfrm>
      </p:grpSpPr>
      <p:sp>
        <p:nvSpPr>
          <p:cNvPr id="2" name="TextBox 2"/>
          <p:cNvSpPr txBox="1"/>
          <p:nvPr/>
        </p:nvSpPr>
        <p:spPr>
          <a:xfrm>
            <a:off x="1834752" y="1721082"/>
            <a:ext cx="14618496" cy="2954655"/>
          </a:xfrm>
          <a:prstGeom prst="rect">
            <a:avLst/>
          </a:prstGeom>
        </p:spPr>
        <p:txBody>
          <a:bodyPr lIns="0" tIns="0" rIns="0" bIns="0" rtlCol="0" anchor="t">
            <a:spAutoFit/>
          </a:bodyPr>
          <a:lstStyle/>
          <a:p>
            <a:pPr algn="ctr"/>
            <a:r>
              <a:rPr lang="en-US" sz="9600" b="1">
                <a:ln w="12700">
                  <a:solidFill>
                    <a:schemeClr val="tx2">
                      <a:lumMod val="75000"/>
                    </a:schemeClr>
                  </a:solidFill>
                  <a:prstDash val="solid"/>
                </a:ln>
                <a:pattFill prst="dkUpDiag">
                  <a:fgClr>
                    <a:schemeClr val="tx2"/>
                  </a:fgClr>
                  <a:bgClr>
                    <a:schemeClr val="tx2">
                      <a:lumMod val="20000"/>
                      <a:lumOff val="80000"/>
                    </a:schemeClr>
                  </a:bgClr>
                </a:pattFill>
                <a:effectLst>
                  <a:outerShdw dist="38100" dir="2640000" algn="bl" rotWithShape="0">
                    <a:schemeClr val="tx2">
                      <a:lumMod val="75000"/>
                    </a:schemeClr>
                  </a:outerShdw>
                </a:effectLst>
                <a:latin typeface="Inter"/>
                <a:ea typeface="Inter"/>
                <a:cs typeface="Inter"/>
                <a:sym typeface="Inter"/>
              </a:rPr>
              <a:t>THANK YOU FOR WATCHING!</a:t>
            </a:r>
          </a:p>
        </p:txBody>
      </p:sp>
      <p:sp>
        <p:nvSpPr>
          <p:cNvPr id="4" name="Freeform 4"/>
          <p:cNvSpPr/>
          <p:nvPr/>
        </p:nvSpPr>
        <p:spPr>
          <a:xfrm>
            <a:off x="7133513" y="4827872"/>
            <a:ext cx="4020973" cy="4332052"/>
          </a:xfrm>
          <a:custGeom>
            <a:avLst/>
            <a:gdLst/>
            <a:ahLst/>
            <a:cxnLst/>
            <a:rect l="l" t="t" r="r" b="b"/>
            <a:pathLst>
              <a:path w="2860345" h="3874852">
                <a:moveTo>
                  <a:pt x="0" y="0"/>
                </a:moveTo>
                <a:lnTo>
                  <a:pt x="2860346" y="0"/>
                </a:lnTo>
                <a:lnTo>
                  <a:pt x="2860346" y="3874852"/>
                </a:lnTo>
                <a:lnTo>
                  <a:pt x="0" y="387485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1139</Words>
  <Application>Microsoft Office PowerPoint</Application>
  <PresentationFormat>Custom</PresentationFormat>
  <Paragraphs>149</Paragraphs>
  <Slides>17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17</vt:i4>
      </vt:variant>
    </vt:vector>
  </HeadingPairs>
  <TitlesOfParts>
    <vt:vector size="27" baseType="lpstr">
      <vt:lpstr>Inter</vt:lpstr>
      <vt:lpstr>Arial</vt:lpstr>
      <vt:lpstr>Calibri</vt:lpstr>
      <vt:lpstr>Courier New</vt:lpstr>
      <vt:lpstr>Muli Extra-Light</vt:lpstr>
      <vt:lpstr>Wingdings</vt:lpstr>
      <vt:lpstr>Muli Semi-Bold</vt:lpstr>
      <vt:lpstr>Inter Bold</vt:lpstr>
      <vt:lpstr>Muli</vt:lpstr>
      <vt:lpstr>Office Theme</vt:lpstr>
      <vt:lpstr>PowerPoint Presentation</vt:lpstr>
      <vt:lpstr>Phân Công Công Việc và Đánh Giá Nhóm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Xám Tím Các yếu tố cùng kích thước &amp; Giả lập Công nghệ 5G Bản thuyết trình Công nghệ</dc:title>
  <cp:lastModifiedBy>Anh Việt</cp:lastModifiedBy>
  <cp:revision>13</cp:revision>
  <dcterms:created xsi:type="dcterms:W3CDTF">2006-08-16T00:00:00Z</dcterms:created>
  <dcterms:modified xsi:type="dcterms:W3CDTF">2025-06-03T17:29:18Z</dcterms:modified>
  <dc:identifier>DAGpGqiLUfc</dc:identifier>
</cp:coreProperties>
</file>